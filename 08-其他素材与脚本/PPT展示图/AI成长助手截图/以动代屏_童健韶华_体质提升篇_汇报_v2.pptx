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embeddedFontLst>
    <p:embeddedFont>
      <p:font typeface="微软雅黑" panose="020B0503020204020204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方正楷体_GB2312" panose="02000000000000000000" charset="-122"/>
      <p:regular r:id="rId28"/>
    </p:embeddedFont>
    <p:embeddedFont>
      <p:font typeface="汉仪尚巍手书W" panose="00020600040101010101" charset="-122"/>
      <p:regular r:id="rId29"/>
    </p:embeddedFont>
    <p:embeddedFont>
      <p:font typeface="汉仪颜楷简" panose="00020600040101010101" charset="-122"/>
      <p:regular r:id="rId30"/>
    </p:embeddedFont>
  </p:embeddedFontLst>
  <p:custDataLst>
    <p:tags r:id="rId3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3.xml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图片 6" descr="童健韶华_蓝白4x3_正文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图片 21" descr="A_modern__professional_and_cle_2026-08-28T13-00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120640"/>
            <a:ext cx="9144000" cy="1737360"/>
          </a:xfrm>
          <a:prstGeom prst="rect">
            <a:avLst/>
          </a:prstGeom>
          <a:gradFill>
            <a:gsLst>
              <a:gs pos="14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2078C7">
                  <a:alpha val="50000"/>
                </a:srgbClr>
              </a:gs>
              <a:gs pos="51000">
                <a:srgbClr val="0070C0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20675" y="1234440"/>
            <a:ext cx="3262630" cy="762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182880"/>
            <a:ext cx="914400" cy="914400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91310" y="320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91310" y="731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质量管理系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400810"/>
            <a:ext cx="9144000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D9E2F3"/>
                </a:solidFill>
                <a:latin typeface="微软雅黑" panose="020B0503020204020204" charset="-122"/>
                <a:ea typeface="微软雅黑" panose="020B0503020204020204" charset="-122"/>
              </a:rPr>
              <a:t>2026 年暑期“三下乡”社会实践</a:t>
            </a:r>
            <a:r>
              <a:rPr lang="zh-CN" sz="2000" b="0">
                <a:solidFill>
                  <a:srgbClr val="D9E2F3"/>
                </a:solidFill>
                <a:latin typeface="微软雅黑" panose="020B0503020204020204" charset="-122"/>
                <a:ea typeface="微软雅黑" panose="020B0503020204020204" charset="-122"/>
              </a:rPr>
              <a:t>汇报</a:t>
            </a:r>
            <a:endParaRPr lang="zh-CN" sz="2000" b="0">
              <a:solidFill>
                <a:srgbClr val="D9E2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764665"/>
            <a:ext cx="9144000" cy="8210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400" b="1">
                <a:solidFill>
                  <a:schemeClr val="tx1"/>
                </a:solidFill>
                <a:latin typeface="汉仪尚巍手书W" panose="00020600040101010101" charset="-122"/>
                <a:ea typeface="汉仪尚巍手书W" panose="00020600040101010101" charset="-122"/>
              </a:rPr>
              <a:t>以动代屏护童健　青春跃动筑梦行</a:t>
            </a:r>
            <a:endParaRPr sz="4400" b="1">
              <a:solidFill>
                <a:schemeClr val="tx1"/>
              </a:solidFill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649220"/>
            <a:ext cx="9144000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chemeClr val="tx1"/>
                </a:solidFill>
                <a:latin typeface="汉仪颜楷简" panose="00020600040101010101" charset="-122"/>
                <a:ea typeface="汉仪颜楷简" panose="00020600040101010101" charset="-122"/>
                <a:cs typeface="汉仪颜楷简" panose="00020600040101010101" charset="-122"/>
                <a:sym typeface="汉仪颜楷简" panose="00020600040101010101" charset="-122"/>
              </a:rPr>
              <a:t>“童健韶华”志愿服务队</a:t>
            </a:r>
            <a:endParaRPr sz="2000" b="0">
              <a:solidFill>
                <a:schemeClr val="tx1"/>
              </a:solidFill>
              <a:latin typeface="汉仪颜楷简" panose="00020600040101010101" charset="-122"/>
              <a:ea typeface="汉仪颜楷简" panose="00020600040101010101" charset="-122"/>
              <a:cs typeface="汉仪颜楷简" panose="00020600040101010101" charset="-122"/>
              <a:sym typeface="汉仪颜楷简" panose="0002060004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6260" y="3084195"/>
            <a:ext cx="8031480" cy="68897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8025" y="3289300"/>
            <a:ext cx="7704455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主线：提升青少年体质素质    切入：网络素养    延展：家庭关系·社区协同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D9E2F3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以动代屏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34640" y="41148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D9E2F3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校家社协同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54880" y="41148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D9E2F3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网络素养切入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75120" y="41148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D9E2F3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延展家庭关系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53492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汇报人：阎宗宁　　汇报时间：2026 年 7 月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5806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AI 赋能 ＋  开源共享 ＝  让青春行动可持续</a:t>
            </a:r>
            <a:endParaRPr sz="15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6331585"/>
            <a:ext cx="9144000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D9E2F3"/>
                </a:solidFill>
                <a:latin typeface="微软雅黑" panose="020B0503020204020204" charset="-122"/>
                <a:ea typeface="微软雅黑" panose="020B0503020204020204" charset="-122"/>
              </a:rPr>
              <a:t>感谢各位老师的聆听与指导</a:t>
            </a:r>
            <a:endParaRPr sz="1200" b="0">
              <a:solidFill>
                <a:srgbClr val="D9E2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 descr="系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510" y="187960"/>
            <a:ext cx="1097154" cy="1080000"/>
          </a:xfrm>
          <a:prstGeom prst="ellipse">
            <a:avLst/>
          </a:prstGeom>
        </p:spPr>
      </p:pic>
      <p:pic>
        <p:nvPicPr>
          <p:cNvPr id="21" name="图片 20" descr="校徽"/>
          <p:cNvPicPr>
            <a:picLocks noChangeAspect="1"/>
          </p:cNvPicPr>
          <p:nvPr/>
        </p:nvPicPr>
        <p:blipFill>
          <a:blip r:embed="rId4"/>
          <a:srcRect l="627" t="4056" r="627" b="3762"/>
          <a:stretch>
            <a:fillRect/>
          </a:stretch>
        </p:blipFill>
        <p:spPr>
          <a:xfrm>
            <a:off x="7950835" y="200025"/>
            <a:ext cx="1085510" cy="108000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" name="图片 45" descr="童健韶华_蓝白4x3_正文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1800" y="877697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汇 报 框 架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1171575"/>
            <a:ext cx="77724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A6E8C"/>
                </a:solidFill>
                <a:latin typeface="方正楷体_GB2312" panose="02000000000000000000" charset="-122"/>
                <a:ea typeface="方正楷体_GB2312" panose="02000000000000000000" charset="-122"/>
              </a:rPr>
              <a:t>以提升青少年体质素质为出发点与落脚点，分六篇章展开</a:t>
            </a:r>
            <a:endParaRPr sz="1600" b="0">
              <a:solidFill>
                <a:srgbClr val="5A6E8C"/>
              </a:solidFill>
              <a:latin typeface="方正楷体_GB2312" panose="02000000000000000000" charset="-122"/>
              <a:ea typeface="方正楷体_GB2312" panose="020000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137160" cy="13258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69163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4480" y="1645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实践背景与目的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21488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政策理论与现实痛点</a:t>
            </a:r>
            <a:endParaRPr sz="12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846320" y="155448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846320" y="1554480"/>
            <a:ext cx="137160" cy="13258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20640" y="169163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60720" y="1645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调研设计与实施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20640" y="21488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问卷 + 访谈  混合设计</a:t>
            </a:r>
            <a:endParaRPr sz="12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1089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0080" y="3108960"/>
            <a:ext cx="137160" cy="13258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32461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调研结果与分析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37033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运动·屏幕·家长观念  三大发现</a:t>
            </a:r>
            <a:endParaRPr sz="12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846320" y="31089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846320" y="3108960"/>
            <a:ext cx="137160" cy="13258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120640" y="32461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60720" y="32004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实践过程：以动代屏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20640" y="37033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课堂  趣味运动会  AI 赋能</a:t>
            </a:r>
            <a:endParaRPr sz="12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40080" y="4663440"/>
            <a:ext cx="137160" cy="13258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54480" y="475487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实践成果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846320" y="466344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846320" y="4663440"/>
            <a:ext cx="137160" cy="13258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0" y="48006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60720" y="475487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开源共享与持续行动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20640" y="525780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GitHub ＋ 国家政策指引</a:t>
            </a:r>
            <a:endParaRPr sz="12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8"/>
          <p:cNvSpPr txBox="1"/>
          <p:nvPr>
            <p:custDataLst>
              <p:tags r:id="rId2"/>
            </p:custDataLst>
          </p:nvPr>
        </p:nvSpPr>
        <p:spPr>
          <a:xfrm>
            <a:off x="5432425" y="60325"/>
            <a:ext cx="3691255" cy="668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p>
            <a:pPr algn="ctr"/>
            <a:r>
              <a:rPr b="1">
                <a:solidFill>
                  <a:schemeClr val="tx1"/>
                </a:solidFill>
                <a:latin typeface="汉仪尚巍手书W" panose="00020600040101010101" charset="-122"/>
                <a:ea typeface="汉仪尚巍手书W" panose="00020600040101010101" charset="-122"/>
              </a:rPr>
              <a:t>以动代屏护童健　青春跃动筑梦行</a:t>
            </a:r>
            <a:endParaRPr b="1">
              <a:solidFill>
                <a:schemeClr val="tx1"/>
              </a:solidFill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" name="图片 37" descr="童健韶华_蓝白4x3_正文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76375" y="133553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实践背景与目的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4510" y="964565"/>
            <a:ext cx="77724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A6E8C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政策理论 ＋  基层现实痛点 ＝  行动起点</a:t>
            </a:r>
            <a:endParaRPr sz="1400" b="0">
              <a:solidFill>
                <a:srgbClr val="5A6E8C"/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457200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一、政策与理论基础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4206240" cy="822960"/>
          </a:xfrm>
          <a:prstGeom prst="roundRect">
            <a:avLst>
              <a:gd name="adj" fmla="val 15000"/>
            </a:avLst>
          </a:prstGeom>
          <a:solidFill>
            <a:srgbClr val="D9E2F3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1874519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党的二十大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2212848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促进群众体育与竞技体育全面发展，加快建设体育强国。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4206240" cy="822960"/>
          </a:xfrm>
          <a:prstGeom prst="roundRect">
            <a:avLst>
              <a:gd name="adj" fmla="val 15000"/>
            </a:avLst>
          </a:prstGeom>
          <a:solidFill>
            <a:srgbClr val="D9E2F3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2834639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《健康中国 2030 规划纲要》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学生体质健康达标优秀率 25% 以上。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39"/>
            <a:ext cx="4206240" cy="822960"/>
          </a:xfrm>
          <a:prstGeom prst="roundRect">
            <a:avLst>
              <a:gd name="adj" fmla="val 15000"/>
            </a:avLst>
          </a:prstGeom>
          <a:solidFill>
            <a:srgbClr val="D9E2F3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3794759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《全民健身计划 2021—2025》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133087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运用人工智能赋能全民健身发展。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4206240" cy="822960"/>
          </a:xfrm>
          <a:prstGeom prst="roundRect">
            <a:avLst>
              <a:gd name="adj" fmla="val 15000"/>
            </a:avLst>
          </a:prstGeom>
          <a:solidFill>
            <a:srgbClr val="D9E2F3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校家社协同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5093208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中小学生每天综合体育活动时间不低于 2 小时。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Picture 24" descr="health2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2194560" cy="27797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0" y="3703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健康中国 2030 战略指引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160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二、现实痛点</a:t>
            </a:r>
            <a:endParaRPr sz="15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0" y="4572000"/>
            <a:ext cx="32004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0" y="45720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  日均运动 &lt; 1h 普遍</a:t>
            </a:r>
            <a:endParaRPr sz="1200" b="1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0" y="5029200"/>
            <a:ext cx="32004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0" y="50292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  屏幕 ≥ 2h 占比 68.3%</a:t>
            </a:r>
            <a:endParaRPr sz="1200" b="1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0" y="5486400"/>
            <a:ext cx="32004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86400" y="54864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  家长陪伴监督缺位</a:t>
            </a:r>
            <a:endParaRPr sz="1200" b="1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486400" y="5943600"/>
            <a:ext cx="32004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86400" y="59436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  社区场地与指导“双缺”</a:t>
            </a:r>
            <a:endParaRPr sz="1200" b="1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8"/>
          <p:cNvSpPr txBox="1"/>
          <p:nvPr>
            <p:custDataLst>
              <p:tags r:id="rId3"/>
            </p:custDataLst>
          </p:nvPr>
        </p:nvSpPr>
        <p:spPr>
          <a:xfrm>
            <a:off x="5432425" y="60325"/>
            <a:ext cx="3691255" cy="6680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p>
            <a:pPr algn="ctr"/>
            <a:r>
              <a:rPr b="1">
                <a:solidFill>
                  <a:schemeClr val="tx1"/>
                </a:solidFill>
                <a:latin typeface="汉仪尚巍手书W" panose="00020600040101010101" charset="-122"/>
                <a:ea typeface="汉仪尚巍手书W" panose="00020600040101010101" charset="-122"/>
              </a:rPr>
              <a:t>以动代屏护童健　青春跃动筑梦行</a:t>
            </a:r>
            <a:endParaRPr b="1">
              <a:solidFill>
                <a:schemeClr val="tx1"/>
              </a:solidFill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调研缘起与服务目标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摸清基层痛点，再设计干预方案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文献与政策共同指向一个结论：儿童体质问题须以“学校—家庭—社区”协同干预方能破题。</a:t>
            </a:r>
            <a:endParaRPr sz="13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然而基层究竟卡在哪一环？家长真正担心什么？社区工作者眼中的现状又是怎样？</a:t>
            </a:r>
            <a:endParaRPr sz="13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在动手干预之前，服务队决定先用一份扎实的调研把“基层真实痛点”摸清楚，</a:t>
            </a:r>
            <a:endParaRPr sz="13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再据此设计干预方案——避免“凭感觉做公益”，也让项目未来可延展至家庭关系、社区治理等更多维度。</a:t>
            </a:r>
            <a:endParaRPr sz="13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📍 服务地点：威海张村镇 · 黄家皂幼儿园 / 蓝海社区 / 西海社区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288036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🕒 服务时间：2026 年 7 月  （集中 + 延展）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4" descr="survey_u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285" y="3520440"/>
            <a:ext cx="4424680" cy="24777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04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调研设计与实施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问卷 + 访谈  混合设计  ＋  统计校验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4937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调研方法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家长卷 15 题：运动时长·屏幕使用·家长观念·安全顾虑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13055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社工卷 15 题：辖区儿童体质现状与社区支持短板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2478024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入园座谈、入户走访、线上推送三路并行回收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2825496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关键题漏答、前后矛盾、规律作答均剔除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172968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全部数据经 Cronbach α 信度与抽样误差校验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统计校验指标</a:t>
            </a:r>
            <a:endParaRPr sz="15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4937760" cy="594360"/>
          </a:xfrm>
          <a:prstGeom prst="roundRect">
            <a:avLst>
              <a:gd name="adj" fmla="val 10000"/>
            </a:avLst>
          </a:prstGeom>
          <a:solidFill>
            <a:srgbClr val="D9E2F3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Cronbach α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3120" y="420624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0.83 / 0.79</a:t>
            </a:r>
            <a:endParaRPr sz="16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83280" y="420624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家长卷 / 社工卷 信度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4892040"/>
            <a:ext cx="4937760" cy="594360"/>
          </a:xfrm>
          <a:prstGeom prst="roundRect">
            <a:avLst>
              <a:gd name="adj" fmla="val 10000"/>
            </a:avLst>
          </a:prstGeom>
          <a:solidFill>
            <a:srgbClr val="D9E2F3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抽样误差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489204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± 6.2 %</a:t>
            </a:r>
            <a:endParaRPr sz="16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83280" y="489204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95 % 置信水平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" y="5577840"/>
            <a:ext cx="4937760" cy="594360"/>
          </a:xfrm>
          <a:prstGeom prst="roundRect">
            <a:avLst>
              <a:gd name="adj" fmla="val 10000"/>
            </a:avLst>
          </a:prstGeom>
          <a:solidFill>
            <a:srgbClr val="D9E2F3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问卷有效率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03120" y="557784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91.5 % / 96.0 %</a:t>
            </a:r>
            <a:endParaRPr sz="16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83280" y="557784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家长卷 / 社工卷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两套问卷 · 双视角采集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Picture 31" descr="roll_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91640"/>
            <a:ext cx="1417320" cy="1739438"/>
          </a:xfrm>
          <a:prstGeom prst="rect">
            <a:avLst/>
          </a:prstGeom>
        </p:spPr>
      </p:pic>
      <p:pic>
        <p:nvPicPr>
          <p:cNvPr id="33" name="Picture 32" descr="roll_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691640"/>
            <a:ext cx="1417320" cy="173943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669280" y="4297680"/>
            <a:ext cx="31089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0" y="4389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三 路 并 行 回 收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0" y="48006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sz="22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60720" y="5440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家长卷发放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66560" y="48006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sz="22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66560" y="5440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社工卷发放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2400" y="48006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91.5 %</a:t>
            </a:r>
            <a:endParaRPr sz="22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72400" y="5440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家长卷有效率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05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调研结果 ①  运动时间普遍不足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儿童日均运动未达 2 小时基本要求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chart_q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754880" cy="26386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1234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数据明细表（家长卷 n=183）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0" y="1600200"/>
          <a:ext cx="32918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058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时长区间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累计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 30 分钟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22.4 %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22.4 %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— 60 分钟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18.6 %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41.0 %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— 2 小时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37.2 %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78.2 %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 2 小时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21.8 %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0" y="384048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0" y="3931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核心发现</a:t>
            </a:r>
            <a:endParaRPr sz="14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0" y="4343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41.0% 孩子日均运动 &lt; 1 小时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0" y="47274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仅 22% 达 ≥ 2 小时（远低于政策要求）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0" y="51114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社工卷：户外活动 &lt; 30 min 占 41.7%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0" y="549554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运动时间被电子屏幕严重挤压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199632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干预方向：趣味运动会 / 校园体能游戏</a:t>
            </a:r>
            <a:endParaRPr sz="11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06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调研结果 ②  屏幕依赖尤为突出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屏幕已从“工具”变成“默认陪伴”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chart_q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754880" cy="26386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1234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数据明细表（家长卷 n=183）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0" y="1600200"/>
          <a:ext cx="32918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0972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屏幕时长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风险分级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 1 小时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13.7 %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— 2 小时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18.0 %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 — 3 小时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41.0 %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中高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 3 小时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27.3 %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0" y="384048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0" y="3931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核心发现</a:t>
            </a:r>
            <a:endParaRPr sz="14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0" y="4343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68.3% 孩子日均屏幕 ≥ 2 小时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0" y="47274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27.3% ≥ 3 小时，属高依赖风险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0" y="51114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家长反映：作业完即“默认”拿手机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0" y="549554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屏幕挤占运动与亲子陪伴时间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199632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干预方向：网络素养课堂 + 健康用网契约</a:t>
            </a:r>
            <a:endParaRPr sz="11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07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调研结果 ③  家长观念与关键交叉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高屏幕组更倾向把责任归于“家长重视不足”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chart_q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4114800" cy="22834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32461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图 4  运动不足的责任归因（多选）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12344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责任归因明细（家长卷 多选）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554480"/>
          <a:ext cx="4206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归因选项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孩子自控力弱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56.2 %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家长重视不足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41.3 %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缺乏专业指导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38.8 %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课业负担重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33.9 %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关键交叉：屏幕时间 × 责任归因（家长重视不足）  χ² = 19.79  p &lt; 0.001 ★显著</a:t>
            </a:r>
            <a:endParaRPr sz="13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023360"/>
          <a:ext cx="8595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2194560"/>
                <a:gridCol w="13716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分组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样本量 n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归因“家长重视不足”占比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卡方检验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结论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高屏幕组 (≥ 2 h/日)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125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52.0 %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χ² = 19.79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显著正相关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低屏幕组 (&lt; 2 h/日)</a:t>
                      </a:r>
                      <a:endParaRPr sz="1200" b="1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58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17.2 %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 &lt; 0.001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责任归因差异显著</a:t>
                      </a:r>
                      <a:endParaRPr sz="1200" b="0">
                        <a:solidFill>
                          <a:srgbClr val="333D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4320" y="553212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结论  真正缺的并非“意愿”，而是“方法与资源”——21.9% 家长把困难归为“缺乏专业指导、不知如何监督”，38.8% 列为最大障碍。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这正是后文 AI 赋能两款小程序的发力点：把“专业教练”送到基层家庭。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08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实践过程  三场活动 · 三点位依次铺开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按社区条件弹性组合 · 可组装 · 可适配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黄家皂幼儿园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照片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219456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3840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网络素养科普宣讲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自研课件《真正的大神，从不被屏幕绑架》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4988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“网络红绿灯”“健康用网契约”互动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4791455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把防沉迷教育延伸至家庭日常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91840" y="137160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291840" y="1371600"/>
            <a:ext cx="2743200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291840" y="13716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蓝海社区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Picture 21" descr="0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57400"/>
            <a:ext cx="2194560" cy="12346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91840" y="3840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体质提升趣味运动会</a:t>
            </a:r>
            <a:endParaRPr sz="13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42062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跳房子 · 接力赛跑 · 沙包投掷 · 集体跳绳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29000" y="44988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低门槛、高参与，“出汗 + 大笑”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29000" y="4791455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以真实快乐替代屏幕依赖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137160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217920" y="137160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7920" y="13716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西海社区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Picture 29" descr="0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57400"/>
            <a:ext cx="2194560" cy="12346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17920" y="3840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综合模式（宣讲 + 运动 + 反诈）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55080" y="42062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两地示范基础上推广至西海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5080" y="44988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按多年龄段灵活适配服务形式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55080" y="4791455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三地全覆盖，成熟模式可复制</a:t>
            </a:r>
            <a:endParaRPr sz="105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65760" y="5623560"/>
            <a:ext cx="8412480" cy="73152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524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服务拆为「宣讲 + 运动会」两大模块，按社区实际条件弹性组合、可组装可适配——同一支队伍，因点施策、各展所长。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09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实践过程 ①  网络素养课堂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黄家皂幼儿园  ·  疏堵结合 · 契约化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照片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754880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4805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图 6  黄家皂幼儿园 · 网络素养课堂现场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4754880" cy="128016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课堂关键词：疏堵结合 · 契约化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不硬性“禁网”，教孩子科学自律用网</a:t>
            </a:r>
            <a:endParaRPr sz="11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596127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自研课件《真正的大神，从不被屏幕绑架》</a:t>
            </a:r>
            <a:endParaRPr sz="11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5843016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互动小游戏：“网络红绿灯”“健康用网契约”</a:t>
            </a:r>
            <a:endParaRPr sz="11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做法与延伸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17373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692140" y="1943100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7960" y="187451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课堂讲授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7960" y="22402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网络素养基础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0" y="27889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692140" y="2994660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246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960" y="292607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互动游戏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291839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红绿灯 / 契约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69280" y="3840479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5692140" y="4046219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429767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397763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家校共签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37960" y="4343399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用网约定上墙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669280" y="4892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692140" y="5097779"/>
            <a:ext cx="502920" cy="5029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349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37960" y="5029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家庭延展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37960" y="5394959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亲子共学共守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10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实践过程 ②  趣味运动会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蓝海社区  ·  低门槛 · 高参与 · 真快乐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0-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754880" cy="2675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4805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图 7  蓝海社区 · 趣味运动会·呼啦圈闯关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4754880" cy="128016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项目关键词：低门槛 · 高参与 · 真快乐</a:t>
            </a:r>
            <a:endParaRPr sz="14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跳房子 / 接力赛跑 / 沙包投掷 / 障碍闯关</a:t>
            </a:r>
            <a:endParaRPr sz="11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596127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器材简单、规则易懂，“出汗 + 大笑”</a:t>
            </a:r>
            <a:endParaRPr sz="11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5843016"/>
            <a:ext cx="4389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• 自主运动意愿强者体质优良率显著更高</a:t>
            </a:r>
            <a:endParaRPr sz="11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项目设计原则</a:t>
            </a:r>
            <a:endParaRPr sz="15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178308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0" y="1783080"/>
            <a:ext cx="109728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2160" y="1783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器材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6560" y="178308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全部日常易得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0" y="256032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0" y="2560320"/>
            <a:ext cx="109728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852160" y="25603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场地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25603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社区广场 / 楼间空地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0" y="333756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0" y="3337560"/>
            <a:ext cx="109728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52160" y="33375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66560" y="33375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分组计奖、人人有份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669280" y="411480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0" y="4114800"/>
            <a:ext cx="109728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52160" y="41148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66560" y="411480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队员全程陪护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669280" y="489204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669280" y="4892040"/>
            <a:ext cx="109728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852160" y="48920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反馈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66560" y="489204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运动后快乐指数打卡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11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710" y="23736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21183"/>
            <a:ext cx="77724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实践过程 ③  AI 赋能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3910" y="440690"/>
            <a:ext cx="3828415" cy="370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00" b="0">
                <a:solidFill>
                  <a:srgbClr val="5A6E8C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两款小程序 ＝  把专业教练送到基层</a:t>
            </a:r>
            <a:endParaRPr sz="1600" b="0">
              <a:solidFill>
                <a:srgbClr val="5A6E8C"/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508760" y="-3557905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 童健韶华·AI 健康成长助手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0" y="6263640"/>
            <a:ext cx="36576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图 8  AI 助手 · 使用指引</a:t>
            </a:r>
            <a:endParaRPr sz="9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12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图片 27" descr="PPT展示_双应用合一_4x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28" y="916305"/>
            <a:ext cx="7078345" cy="5308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实践成果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覆盖广 · 路径清 · AI 落地 · 投稿通过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合照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57200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526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图 9  童健韶华服务队 · 体育研学合照（社区点位）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4572000" cy="118872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对照实证：长沙 5 年跟踪干预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日均中高强度运动：36.8 min  →  58.2 min</a:t>
            </a:r>
            <a:endParaRPr sz="13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（周期较短但路径已清晰）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12080" y="1280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四大成果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12080" y="173736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212080" y="1737360"/>
            <a:ext cx="13716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0" y="22402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三处基层点位，覆盖百余名儿童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212080" y="2834639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12080" y="2834639"/>
            <a:ext cx="13716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0" y="292607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路径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3337559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校家社协同从概念落到场景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212080" y="393192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212080" y="3931920"/>
            <a:ext cx="137160" cy="9601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0" y="402335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0" y="44348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两款小程序补齐基层专业指导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212080" y="502920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212080" y="5029200"/>
            <a:ext cx="137160" cy="9601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0" y="51206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投稿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0" y="55321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纪实已投稿“中青校园三下乡”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13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64592"/>
            <a:ext cx="9144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9456" y="237743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21207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64592"/>
            <a:ext cx="7772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开源共享 · 持续行动与展望</a:t>
            </a:r>
            <a:endParaRPr sz="2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校团委评审汇报</a:t>
            </a:r>
            <a:endParaRPr sz="11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把“一次性服务”沉淀为可传承的公共资源</a:t>
            </a:r>
            <a:endParaRPr sz="13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4023360" cy="4846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项 目 开 源 计 划</a:t>
            </a:r>
            <a:endParaRPr sz="18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D9E2F3"/>
                </a:solidFill>
                <a:latin typeface="微软雅黑" panose="020B0503020204020204" charset="-122"/>
                <a:ea typeface="微软雅黑" panose="020B0503020204020204" charset="-122"/>
              </a:rPr>
              <a:t>GitHub 仓库</a:t>
            </a:r>
            <a:endParaRPr sz="1200" b="0">
              <a:solidFill>
                <a:srgbClr val="D9E2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Yzn-1219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 tongjian-shaohua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已开源内容</a:t>
            </a:r>
            <a:endParaRPr sz="12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AI 健康成长助手 / 个人 AI 教练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网络素养课件与趣味运动方案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5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调研问卷与数据可视化模板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“送方法上门”  →  “把工具交给同行者”</a:t>
            </a:r>
            <a:endParaRPr sz="12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持续行动  ·  让实践可传承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17373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754880" y="192024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194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5000" y="1874519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结合“大学生进社区”省级平台，向更多城郊乡镇、乡村幼儿园辐射推广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6344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754880" y="297180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15000" y="2926079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打造“童健韶华”品牌 IP，将服务模式常态化、代代传承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663440" y="3840479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754880" y="4023359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29767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15000" y="3977639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持续推进 GitHub 开源计划，课件 / 小程序 / 方案持续运营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63440" y="4892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4754880" y="5074920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5349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15000" y="50292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333D4D"/>
                </a:solidFill>
                <a:latin typeface="微软雅黑" panose="020B0503020204020204" charset="-122"/>
                <a:ea typeface="微软雅黑" panose="020B0503020204020204" charset="-122"/>
              </a:rPr>
              <a:t>延展方向：家庭关系 · 社区协同 · 新媒体传播</a:t>
            </a:r>
            <a:endParaRPr sz="1200" b="0">
              <a:solidFill>
                <a:srgbClr val="333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6080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“以青春守护童心，以开源推动可持续。”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43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A6E8C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质量管理系 · 童健韶华志愿服务队</a:t>
            </a:r>
            <a:endParaRPr sz="1000" b="0">
              <a:solidFill>
                <a:srgbClr val="5A6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638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14 / 15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120640"/>
            <a:ext cx="9144000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tea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28016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  谢  聆  听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D9E2F3"/>
                </a:solidFill>
                <a:latin typeface="微软雅黑" panose="020B0503020204020204" charset="-122"/>
                <a:ea typeface="微软雅黑" panose="020B0503020204020204" charset="-122"/>
              </a:rPr>
              <a:t>Thank You for Listening</a:t>
            </a:r>
            <a:endParaRPr sz="1800" b="0">
              <a:solidFill>
                <a:srgbClr val="D9E2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2A900"/>
                </a:solidFill>
                <a:latin typeface="微软雅黑" panose="020B0503020204020204" charset="-122"/>
                <a:ea typeface="微软雅黑" panose="020B0503020204020204" charset="-122"/>
              </a:rPr>
              <a:t>欢迎批评指正  ·  期待与您交流</a:t>
            </a:r>
            <a:endParaRPr sz="1400" b="1">
              <a:solidFill>
                <a:srgbClr val="F2A9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3949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山东药品食品职业学院  质量管理系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58521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“童健韶华”志愿服务队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D9E2F3"/>
                </a:solidFill>
                <a:latin typeface="微软雅黑" panose="020B0503020204020204" charset="-122"/>
                <a:ea typeface="微软雅黑" panose="020B0503020204020204" charset="-122"/>
              </a:rPr>
              <a:t>汇报人：阎宗宁　　2026 年 7 月　　校团委评审汇报</a:t>
            </a:r>
            <a:endParaRPr sz="1200" b="0">
              <a:solidFill>
                <a:srgbClr val="D9E2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OGE3MWU0MWIwZjhlYjQxYjdlZmFmZjQwYTE1MjgzN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3832</Words>
  <Application>WPS 演示</Application>
  <PresentationFormat>On-screen Show (4:3)</PresentationFormat>
  <Paragraphs>626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方正楷体_GB2312</vt:lpstr>
      <vt:lpstr>汉仪综艺体简</vt:lpstr>
      <vt:lpstr>汉仪尚巍手书W</vt:lpstr>
      <vt:lpstr>汉仪颜楷简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这也是阎总</cp:lastModifiedBy>
  <cp:revision>3</cp:revision>
  <dcterms:created xsi:type="dcterms:W3CDTF">2013-01-27T09:14:00Z</dcterms:created>
  <dcterms:modified xsi:type="dcterms:W3CDTF">2026-08-28T13:12:58Z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215EBFDF4F50443788326FEFF7812A66_13</vt:lpwstr>
  </property>
  <property fmtid="{D5CDD505-2E9C-101B-9397-08002B2CF9AE}" pid="3" name="KSOProductBuildVer">
    <vt:lpwstr>2052-12.1.0.16250</vt:lpwstr>
  </property>
</Properties>
</file>