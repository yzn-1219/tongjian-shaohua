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3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15" Type="http://schemas.openxmlformats.org/officeDocument/2006/relationships/tableStyles" Target="tableStyles.xml" /><Relationship Id="rId14" Type="http://schemas.openxmlformats.org/officeDocument/2006/relationships/presProps" Target="presProps.xml" /><Relationship Id="rId12" Type="http://schemas.openxmlformats.org/officeDocument/2006/relationships/slide" Target="slides/slide12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&#10;    width: 1280,&#10;    height: 720,&#10;    background: 'linear-gradient(135deg, #0F172A 0%, #1E3A8A 50%, #0369A1 100%)',&#10;    padding: '36px 60px',&#10;    display: 'flex',&#10;    flexDirection: 'column',&#10;    justifyContent: 'space-between'&#10;}}&gt;&#10;    {/* 顶部标签 */}&#10;    &lt;Box style={{ flexDirection: 'row', alignItems: 'center', gap: 16 }}&gt;&#10;        &lt;Box style={{&#10;            background: 'rgba(255, 255, 255, 0.15)',&#10;            padding: '6px 16px',&#10;            borderRadius: 20,&#10;            border: '1px solid rgba(255, 255, 255, 0.25)'&#10;        }}&gt;&#10;            &lt;Text style={{ fontSize: 14, color: '#BAE6FD', fontWeight: 'bold', letterSpacing: 1 }}&gt;&#10;                2026年大学生暑期“三下乡”社会实践 · 成果汇报&#10;            &lt;/Text&gt;&#10;        &lt;/Box&gt;&#10;        &lt;Text style={{ fontSize: 14, color: 'rgba(255, 255, 255, 0.7)' }}&gt;&#10;            威海市环翠区专项实践&#10;        &lt;/Text&gt;&#10;    &lt;/Box&gt;&#10;&#10;    {/* 中部核心标题与副标 */}&#10;    &lt;Box style={{ flexDirection: 'column', gap: 16 }}&gt;&#10;        &lt;Text style={{&#10;            fontSize: 52,&#10;            fontWeight: 'bold',&#10;            color: '#FFFFFF',&#10;            lineHeight: 1.2,&#10;            letterSpacing: 2&#10;        }}&gt;&#10;            以动代屏 · 童健韶华&#10;        &lt;/Text&gt;&#10;        &lt;Text style={{&#10;            fontSize: 26,&#10;            fontWeight: 'bold',&#10;            color: '#38BDF8',&#10;            lineHeight: 1.4&#10;        }}&gt;&#10;            青少年体质提升与数字赋能志愿服务行动&#10;        &lt;/Text&gt;&#10;        &#10;        {/* 核心理念胶囊 */}&#10;        &lt;Box style={{ flexDirection: 'row', gap: 14, marginTop: 8 }}&gt;&#10;            &lt;Box style={{ background: 'rgba(2, 132, 199, 0.3)', padding: '6px 16px', borderRadius: 8, border: '1px solid #38BDF8' }}&gt;&#10;                &lt;Text style={{ fontSize: 14, color: '#E0F2FE' }}&gt;双轨互动实践&lt;/Text&gt;&#10;            &lt;/Box&gt;&#10;            &lt;Box style={{ background: 'rgba(2, 132, 199, 0.3)', padding: '6px 16px', borderRadius: 8, border: '1px solid #38BDF8' }}&gt;&#10;                &lt;Text style={{ fontSize: 14, color: '#E0F2FE' }}&gt;自研AI工具矩阵&lt;/Text&gt;&#10;            &lt;/Box&gt;&#10;            &lt;Box style={{ background: 'rgba(2, 132, 199, 0.3)', padding: '6px 16px', borderRadius: 8, border: '1px solid #38BDF8' }}&gt;&#10;                &lt;Text style={{ fontSize: 14, color: '#E0F2FE' }}&gt;长效健康护航&lt;/Text&gt;&#10;            &lt;/Box&gt;&#10;        &lt;/Box&gt;&#10;    &lt;/Box&gt;&#10;&#10;    {/* 底部信息栏 */}&#10;    &lt;Box style={{&#10;        flexDirection: 'row',&#10;        justifyContent: 'space-between',&#10;        alignItems: 'flex-end',&#10;        borderTop: '1px solid rgba(255, 255, 255, 0.2)',&#10;        paddingTop: 18&#10;    }}&gt;&#10;        &lt;Box style={{ flexDirection: 'column', gap: 4 }}&gt;&#10;            &lt;Text style={{ fontSize: 15, color: '#FFFFFF', fontWeight: 'bold' }}&gt;&#10;                汇报团队：“童健韶华”志愿服务队&#10;            &lt;/Text&gt;&#10;            &lt;Text style={{ fontSize: 13, color: '#94A3B8' }}&gt;&#10;                队长：阎宗宁 | 指导老师：董怡静、张红朗&#10;            &lt;/Text&gt;&#10;        &lt;/Box&gt;&#10;        &lt;Box style={{&#10;            background: 'rgba(255, 255, 255, 0.1)',&#10;            padding: '6px 18px',&#10;            borderRadius: 8&#10;        }}&gt;&#10;            &lt;Text style={{ fontSize: 13, color: '#E2E8F0' }}&gt;&#10;                聚微光 筑童心 · 为童健韶华&#10;            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50000">
                <a:srgbClr val="1E3A8A"/>
              </a:gs>
              <a:gs pos="100000">
                <a:srgbClr val="0369A1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571500" y="342900"/>
            <a:ext cx="3562350" cy="276225"/>
          </a:xfrm>
          <a:prstGeom prst="roundRect">
            <a:avLst>
              <a:gd name="adj" fmla="val 6896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23900" y="400050"/>
            <a:ext cx="325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75">
                <a:solidFill>
                  <a:srgbClr val="BAE6FD"/>
                </a:solidFill>
                <a:latin typeface="Microsoft YaHei"/>
                <a:ea typeface="Microsoft YaHei"/>
              </a:rPr>
              <a:t>2026</a:t>
            </a:r>
            <a:r>
              <a:rPr lang="zh-CN" sz="1050" b="1" spc="75">
                <a:solidFill>
                  <a:srgbClr val="BAE6FD"/>
                </a:solidFill>
                <a:latin typeface="Microsoft YaHei"/>
                <a:ea typeface="Microsoft YaHei"/>
              </a:rPr>
              <a:t>年大学生暑期“三下乡”社会实践</a:t>
            </a:r>
            <a:r>
              <a:rPr lang="en-US" sz="1050" b="1" spc="75">
                <a:solidFill>
                  <a:srgbClr val="BAE6FD"/>
                </a:solidFill>
                <a:latin typeface="Microsoft YaHei"/>
                <a:ea typeface="Microsoft YaHei"/>
              </a:rPr>
              <a:t> · </a:t>
            </a:r>
            <a:r>
              <a:rPr lang="zh-CN" sz="1050" b="1" spc="75">
                <a:solidFill>
                  <a:srgbClr val="BAE6FD"/>
                </a:solidFill>
                <a:latin typeface="Microsoft YaHei"/>
                <a:ea typeface="Microsoft YaHei"/>
              </a:rPr>
              <a:t>成果汇报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4286250" y="400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威海市环翠区专项实践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2400300"/>
            <a:ext cx="110490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 spc="150">
                <a:solidFill>
                  <a:srgbClr val="FFFFFF"/>
                </a:solidFill>
                <a:latin typeface="Microsoft YaHei"/>
                <a:ea typeface="Microsoft YaHei"/>
              </a:rPr>
              <a:t>以动代屏</a:t>
            </a:r>
            <a:r>
              <a:rPr lang="en-US" sz="3900" b="1" spc="15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3900" b="1" spc="150">
                <a:solidFill>
                  <a:srgbClr val="FFFFFF"/>
                </a:solidFill>
                <a:latin typeface="Microsoft YaHei"/>
                <a:ea typeface="Microsoft YaHei"/>
              </a:rPr>
              <a:t>童健韶华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71500" y="326707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38BDF8"/>
                </a:solidFill>
                <a:latin typeface="Microsoft YaHei"/>
                <a:ea typeface="Microsoft YaHei"/>
              </a:rPr>
              <a:t>青少年体质提升与数字赋能志愿服务行动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71500" y="3914775"/>
            <a:ext cx="1104900" cy="276225"/>
          </a:xfrm>
          <a:prstGeom prst="roundRect">
            <a:avLst>
              <a:gd name="adj" fmla="val 27586"/>
            </a:avLst>
          </a:prstGeom>
          <a:solidFill>
            <a:srgbClr val="0284C7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23900" y="39719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0F2FE"/>
                </a:solidFill>
                <a:latin typeface="Microsoft YaHei"/>
                <a:ea typeface="Microsoft YaHei"/>
              </a:rPr>
              <a:t>双轨互动实践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809750" y="3914775"/>
            <a:ext cx="1238250" cy="276225"/>
          </a:xfrm>
          <a:prstGeom prst="roundRect">
            <a:avLst>
              <a:gd name="adj" fmla="val 27586"/>
            </a:avLst>
          </a:prstGeom>
          <a:solidFill>
            <a:srgbClr val="0284C7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962150" y="39719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0F2FE"/>
                </a:solidFill>
                <a:latin typeface="Microsoft YaHei"/>
                <a:ea typeface="Microsoft YaHei"/>
              </a:rPr>
              <a:t>自研</a:t>
            </a:r>
            <a:r>
              <a:rPr lang="en-US" sz="1050">
                <a:solidFill>
                  <a:srgbClr val="E0F2FE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E0F2FE"/>
                </a:solidFill>
                <a:latin typeface="Microsoft YaHei"/>
                <a:ea typeface="Microsoft YaHei"/>
              </a:rPr>
              <a:t>工具矩阵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181350" y="3914775"/>
            <a:ext cx="1104900" cy="276225"/>
          </a:xfrm>
          <a:prstGeom prst="roundRect">
            <a:avLst>
              <a:gd name="adj" fmla="val 27586"/>
            </a:avLst>
          </a:prstGeom>
          <a:solidFill>
            <a:srgbClr val="0284C7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333750" y="39719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0F2FE"/>
                </a:solidFill>
                <a:latin typeface="Microsoft YaHei"/>
                <a:ea typeface="Microsoft YaHei"/>
              </a:rPr>
              <a:t>长效健康护航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71500" y="5972175"/>
            <a:ext cx="11049000" cy="552450"/>
          </a:xfrm>
          <a:custGeom>
            <a:pathLst>
              <a:path w="1160" h="5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6153150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汇报团队：“童健韶华”志愿服务队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71500" y="6362700"/>
            <a:ext cx="2343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队长：阎宗宁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|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指导老师：董怡静、张红朗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9772650" y="6248400"/>
            <a:ext cx="1847850" cy="266700"/>
          </a:xfrm>
          <a:prstGeom prst="roundRect">
            <a:avLst>
              <a:gd name="adj" fmla="val 2857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944100" y="6305550"/>
            <a:ext cx="1504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聚微光</a:t>
            </a: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筑童心</a:t>
            </a: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为童健韶华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83" name="" descr="&lt;Slide style={{&#10;    width: 1280,&#10;    height: 720,&#10;    background: '#F8FAFC',&#10;    padding: '28px 60px',&#10;    display: 'flex',&#10;    flexDirection: 'column',&#10;    justifyContent: 'space-between'&#10;}}&gt;&#10;    {/* A区：标题栏 */}&#10;    &lt;Box style={{ flexDirection: 'row', justifyContent: 'space-between', alignItems: 'center' }}&gt;&#10;        &lt;Box style={{ flexDirection: 'column', gap: 2 }}&gt;&#10;            &lt;Text style={{ fontSize: 32, fontWeight: 'bold', color: '#1E3A8A' }}&gt;&#10;                汇报大纲 · 核心脉络&#10;            &lt;/Text&gt;&#10;            &lt;Text style={{ fontSize: 13, color: '#64748B' }}&gt;&#10;                AGENDA &amp; CORE WORKFLOW&#10;            &lt;/Text&gt;&#10;        &lt;/Box&gt;&#10;        &lt;Box style={{ background: '#E0F2FE', padding: '6px 14px', borderRadius: 6 }}&gt;&#10;            &lt;Text style={{ fontSize: 13, color: '#0369A1', fontWeight: 'bold' }}&gt;&#10;                以动代屏全流程闭环&#10;            &lt;/Text&gt;&#10;        &lt;/Box&gt;&#10;    &lt;/Box&gt;&#10;&#10;    {/* B区：4大篇章卡片 (2x2 非对称卡片设计) */}&#10;    &lt;Box style={{ flexDirection: 'column', gap: 14 }}&gt;&#10;        &lt;Box style={{ flexDirection: 'row', gap: 16 }}&gt;&#10;            {/* 01 篇章 */}&#10;            &lt;Box style={{&#10;                flex: 1,&#10;                background: '#FFFFFF',&#10;                borderRadius: 10,&#10;                padding: '18px 22px',&#10;                border: '1px solid #E2E8F0',&#10;                boxShadow: '0 4px 10px rgba(0,0,0,0.03)',&#10;                flexDirection: 'column',&#10;                gap: 8&#10;            }}&gt;&#10;                &lt;Box style={{ flexDirection: 'row', alignItems: 'center', justifyContent: 'space-between' }}&gt;&#10;                    &lt;Text style={{ fontSize: 26, fontWeight: 'bold', color: '#0284C7' }}&gt;01&lt;/Text&gt;&#10;                    &lt;Box style={{ background: '#F0F9FF', padding: '3px 8px', borderRadius: 4 }}&gt;&#10;                        &lt;Text style={{ fontSize: 12, color: '#0369A1', fontWeight: 'bold' }}&gt;政策引领 &amp; 痛点&lt;/Text&gt;&#10;                    &lt;/Box&gt;&#10;                &lt;/Box&gt;&#10;                &lt;Text style={{ fontSize: 17, fontWeight: 'bold', color: '#0F172A' }}&gt;&#10;                    时代之问与实践初心&#10;                &lt;/Text&gt;&#10;                &lt;Text style={{ fontSize: 13, color: '#64748B', lineHeight: 1.4 }}&gt;&#10;                    对标《全民健身计划》国家战略，直击青少年屏幕依赖与体质下滑痛点，确立“以动代屏”主线。&#10;                &lt;/Text&gt;&#10;            &lt;/Box&gt;&#10;&#10;            {/* 02 篇章 */}&#10;            &lt;Box style={{&#10;                flex: 1,&#10;                background: '#FFFFFF',&#10;                borderRadius: 10,&#10;                padding: '18px 22px',&#10;                border: '1px solid #E2E8F0',&#10;                boxShadow: '0 4px 10px rgba(0,0,0,0.03)',&#10;                flexDirection: 'column',&#10;                gap: 8&#10;            }}&gt;&#10;                &lt;Box style={{ flexDirection: 'row', alignItems: 'center', justifyContent: 'space-between' }}&gt;&#10;                    &lt;Text style={{ fontSize: 26, fontWeight: 'bold', color: '#0284C7' }}&gt;02&lt;/Text&gt;&#10;                    &lt;Box style={{ background: '#F0F9FF', padding: '3px 8px', borderRadius: 4 }}&gt;&#10;                        &lt;Text style={{ fontSize: 12, color: '#0369A1', fontWeight: 'bold' }}&gt;双轨联动实践&lt;/Text&gt;&#10;                    &lt;/Box&gt;&#10;                &lt;/Box&gt;&#10;                &lt;Text style={{ fontSize: 17, fontWeight: 'bold', color: '#0F172A' }}&gt;&#10;                    线下破局：认知与行为替代&#10;                &lt;/Text&gt;&#10;                &lt;Text style={{ fontSize: 13, color: '#64748B', lineHeight: 1.4 }}&gt;&#10;                    构建“网络素养专题课堂”树立自律意识，开展“趣味运动会”以趣促动，完成物理级屏幕替代。&#10;                &lt;/Text&gt;&#10;            &lt;/Box&gt;&#10;        &lt;/Box&gt;&#10;&#10;        &lt;Box style={{ flexDirection: 'row', gap: 16 }}&gt;&#10;            {/* 03 篇章 */}&#10;            &lt;Box style={{&#10;                flex: 1,&#10;                background: '#FFFFFF',&#10;                borderRadius: 10,&#10;                padding: '18px 22px',&#10;                border: '1px solid #E2E8F0',&#10;                boxShadow: '0 4px 10px rgba(0,0,0,0.03)',&#10;                flexDirection: 'column',&#10;                gap: 8&#10;            }}&gt;&#10;                &lt;Box style={{ flexDirection: 'row', alignItems: 'center', justifyContent: 'space-between' }}&gt;&#10;                    &lt;Text style={{ fontSize: 26, fontWeight: 'bold', color: '#0284C7' }}&gt;03&lt;/Text&gt;&#10;                    &lt;Box style={{ background: '#F0F9FF', padding: '3px 8px', borderRadius: 4 }}&gt;&#10;                        &lt;Text style={{ fontSize: 12, color: '#0369A1', fontWeight: 'bold' }}&gt;数智赋能创新&lt;/Text&gt;&#10;                    &lt;/Box&gt;&#10;                &lt;/Box&gt;&#10;                &lt;Text style={{ fontSize: 17, fontWeight: 'bold', color: '#0F172A' }}&gt;&#10;                    自研AI工具矩阵长效护航&#10;                &lt;/Text&gt;&#10;                &lt;Text style={{ fontSize: 13, color: '#64748B', lineHeight: 1.4 }}&gt;&#10;                    自研“AI体质检测助手 + AI健身教练”PWA矩阵，扫码即用，提供7×24h个性化科学陪伴。&#10;                &lt;/Text&gt;&#10;            &lt;/Box&gt;&#10;&#10;            {/* 04 篇章 */}&#10;            &lt;Box style={{&#10;                flex: 1,&#10;                background: '#FFFFFF',&#10;                borderRadius: 10,&#10;                padding: '18px 22px',&#10;                border: '1px solid #E2E8F0',&#10;                boxShadow: '0 4px 10px rgba(0,0,0,0.03)',&#10;                flexDirection: 'column',&#10;                gap: 8&#10;            }}&gt;&#10;                &lt;Box style={{ flexDirection: 'row', alignItems: 'center', justifyContent: 'space-between' }}&gt;&#10;                    &lt;Text style={{ fontSize: 26, fontWeight: 'bold', color: '#0284C7' }}&gt;04&lt;/Text&gt;&#10;                    &lt;Box style={{ background: '#F0F9FF', padding: '3px 8px', borderRadius: 4 }}&gt;&#10;                        &lt;Text style={{ fontSize: 12, color: '#0369A1', fontWeight: 'bold' }}&gt;实践成效与长效&lt;/Text&gt;&#10;                    &lt;/Box&gt;&#10;                &lt;/Box&gt;&#10;                &lt;Text style={{ fontSize: 17, fontWeight: 'bold', color: '#0F172A' }}&gt;&#10;                    多维成效与开源示范&#10;                &lt;/Text&gt;&#10;                &lt;Text style={{ fontSize: 13, color: '#64748B', lineHeight: 1.4 }}&gt;&#10;                    多维指标量化落地，沉淀全套开源技术资产与标准化工作手册，打造高校实践可复制样板。&#10;                &lt;/Text&gt;&#10;            &lt;/Box&gt;&#10;        &lt;/Box&gt;&#10;    &lt;/Box&gt;&#10;&#10;    {/* C区：页脚 */}&#10;    &lt;Box style={{ flexDirection: 'row', justifyContent: 'space-between', alignItems: 'center', borderTop: '1px solid #E2E8F0', paddingTop: 10 }}&gt;&#10;        &lt;Text style={{ fontSize: 12, color: '#94A3B8' }}&gt;童健韶华 · 青少年体质提升与数字赋能行动&lt;/Text&gt;&#10;        &lt;Text style={{ fontSize: 12, color: '#94A3B8' }}&gt;02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2762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3A8A"/>
                </a:solidFill>
                <a:latin typeface="Microsoft YaHei"/>
                <a:ea typeface="Microsoft YaHei"/>
              </a:rPr>
              <a:t>汇报大纲</a:t>
            </a:r>
            <a:r>
              <a:rPr lang="en-US" sz="2400" b="1">
                <a:solidFill>
                  <a:srgbClr val="1E3A8A"/>
                </a:solidFill>
                <a:latin typeface="Microsoft YaHei"/>
                <a:ea typeface="Microsoft YaHei"/>
              </a:rPr>
              <a:t> · </a:t>
            </a:r>
            <a:r>
              <a:rPr lang="zh-CN" sz="2400" b="1">
                <a:solidFill>
                  <a:srgbClr val="1E3A8A"/>
                </a:solidFill>
                <a:latin typeface="Microsoft YaHei"/>
                <a:ea typeface="Microsoft YaHei"/>
              </a:rPr>
              <a:t>核心脉络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2762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AGENDA &amp; CORE WORKFLOW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10239375" y="409575"/>
            <a:ext cx="1381125" cy="266700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0372725" y="4667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369A1"/>
                </a:solidFill>
                <a:latin typeface="Microsoft YaHei"/>
                <a:ea typeface="Microsoft YaHei"/>
              </a:rPr>
              <a:t>以动代屏全流程闭环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71500" y="2095500"/>
            <a:ext cx="5448300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81050" y="226695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284C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791075" y="2324100"/>
            <a:ext cx="1019175" cy="200025"/>
          </a:xfrm>
          <a:prstGeom prst="roundRect">
            <a:avLst>
              <a:gd name="adj" fmla="val 19048"/>
            </a:avLst>
          </a:prstGeom>
          <a:solidFill>
            <a:srgbClr val="F0F9FF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867275" y="2352675"/>
            <a:ext cx="866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369A1"/>
                </a:solidFill>
                <a:latin typeface="Microsoft YaHei"/>
                <a:ea typeface="Microsoft YaHei"/>
              </a:rPr>
              <a:t>政策引领</a:t>
            </a:r>
            <a:r>
              <a:rPr lang="en-US" sz="900" b="1">
                <a:solidFill>
                  <a:srgbClr val="0369A1"/>
                </a:solidFill>
                <a:latin typeface="Microsoft YaHei"/>
                <a:ea typeface="Microsoft YaHei"/>
              </a:rPr>
              <a:t> &amp; </a:t>
            </a:r>
            <a:r>
              <a:rPr lang="zh-CN" sz="900" b="1">
                <a:solidFill>
                  <a:srgbClr val="0369A1"/>
                </a:solidFill>
                <a:latin typeface="Microsoft YaHei"/>
                <a:ea typeface="Microsoft YaHei"/>
              </a:rPr>
              <a:t>痛点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81050" y="2647950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时代之问与实践初心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81050" y="2924175"/>
            <a:ext cx="50292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对标《全民健身计划》国家战略，直击青少年屏幕依赖与体质下滑痛点，确立“以动代屏”主线。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172200" y="2095500"/>
            <a:ext cx="5448300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381750" y="226695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284C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10572750" y="2324100"/>
            <a:ext cx="838200" cy="200025"/>
          </a:xfrm>
          <a:prstGeom prst="roundRect">
            <a:avLst>
              <a:gd name="adj" fmla="val 19048"/>
            </a:avLst>
          </a:prstGeom>
          <a:solidFill>
            <a:srgbClr val="F0F9F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648950" y="23526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369A1"/>
                </a:solidFill>
                <a:latin typeface="Microsoft YaHei"/>
                <a:ea typeface="Microsoft YaHei"/>
              </a:rPr>
              <a:t>双轨联动实践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381750" y="2647950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线下破局：认知与行为替代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381750" y="2924175"/>
            <a:ext cx="50292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构建“网络素养专题课堂”树立自律意识，开展“趣味运动会”以趣促动，完成物理级屏幕替代。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71500" y="3648075"/>
            <a:ext cx="5448300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81050" y="381952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284C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972050" y="3876675"/>
            <a:ext cx="838200" cy="200025"/>
          </a:xfrm>
          <a:prstGeom prst="roundRect">
            <a:avLst>
              <a:gd name="adj" fmla="val 19048"/>
            </a:avLst>
          </a:prstGeom>
          <a:solidFill>
            <a:srgbClr val="F0F9F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048250" y="39052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369A1"/>
                </a:solidFill>
                <a:latin typeface="Microsoft YaHei"/>
                <a:ea typeface="Microsoft YaHei"/>
              </a:rPr>
              <a:t>数智赋能创新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81050" y="4200525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自研</a:t>
            </a: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AI</a:t>
            </a: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工具矩阵长效护航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81050" y="4476750"/>
            <a:ext cx="50292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自研“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体质检测助手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AI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健身教练”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PWA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矩阵，扫码即用，提供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7×24h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个性化科学陪伴。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172200" y="3648075"/>
            <a:ext cx="5448300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381750" y="381952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284C7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10458450" y="3876675"/>
            <a:ext cx="952500" cy="200025"/>
          </a:xfrm>
          <a:prstGeom prst="roundRect">
            <a:avLst>
              <a:gd name="adj" fmla="val 19048"/>
            </a:avLst>
          </a:prstGeom>
          <a:solidFill>
            <a:srgbClr val="F0F9F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534650" y="390525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369A1"/>
                </a:solidFill>
                <a:latin typeface="Microsoft YaHei"/>
                <a:ea typeface="Microsoft YaHei"/>
              </a:rPr>
              <a:t>实践成效与长效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381750" y="4200525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多维成效与开源示范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381750" y="4476750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多维指标量化落地，沉淀全套开源技术资产与标准化工作手册，打造高校实践可复制样板。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6343650"/>
            <a:ext cx="11049000" cy="257175"/>
          </a:xfrm>
          <a:custGeom>
            <a:pathLst>
              <a:path w="1160" h="2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童健韶华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青少年体质提升与数字赋能行动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16" name="" descr="&lt;Slide style={{&#10;    width: 1280,&#10;    height: 720,&#10;    background: '#F8FAFC',&#10;    padding: '28px 60px',&#10;    display: 'flex',&#10;    flexDirection: 'column',&#10;    justifyContent: 'space-between'&#10;}}&gt;&#10;    {/* A区：标题栏 */}&#10;    &lt;Box style={{ flexDirection: 'row', justifyContent: 'space-between', alignItems: 'center' }}&gt;&#10;        &lt;Box style={{ flexDirection: 'column', gap: 2 }}&gt;&#10;            &lt;Text style={{ fontSize: 30, fontWeight: 'bold', color: '#1E3A8A' }}&gt;&#10;                时代之问：电子屏幕时代的青少年体质挑战&#10;            &lt;/Text&gt;&#10;            &lt;Text style={{ fontSize: 13, color: '#64748B' }}&gt;&#10;                篇章一 · 国家战略引领与现实痛点洞察&#10;            &lt;/Text&gt;&#10;        &lt;/Box&gt;&#10;        &lt;Box style={{ background: '#FEF2F2', padding: '5px 12px', borderRadius: 6, border: '1px solid #FECACA' }}&gt;&#10;            &lt;Text style={{ fontSize: 12, color: '#DC2626', fontWeight: 'bold' }}&gt;&#10;                现实危机与紧迫需求&#10;            &lt;/Text&gt;&#10;        &lt;/Box&gt;&#10;    &lt;/Box&gt;&#10;&#10;    {/* B区：非对称双栏 */}&#10;    &lt;Box style={{ flexDirection: 'row', gap: 20 }}&gt;&#10;        {/* 左栏：国家政策导向 */}&#10;        &lt;Box style={{&#10;            flex: 45,&#10;            background: 'linear-gradient(180deg, #EFF6FF 0%, #FFFFFF 100%)',&#10;            borderRadius: 10,&#10;            padding: '20px',&#10;            border: '1px solid #BFDBFE',&#10;            flexDirection: 'column',&#10;            gap: 12&#10;        }}&gt;&#10;            &lt;Text style={{ fontSize: 18, fontWeight: 'bold', color: '#1D4ED8' }}&gt;&#10;                📜 国家战略指引方向&#10;            &lt;/Text&gt;&#10;&#10;            &lt;Box style={{ background: '#FFFFFF', padding: '12px', borderRadius: 8, borderLeft: '4px solid #3B82F6' }}&gt;&#10;                &lt;Text style={{ fontSize: 14, fontWeight: 'bold', color: '#1E293B' }}&gt;&#10;                    《全民健身计划（2026—2030年）》&#10;                &lt;/Text&gt;&#10;                &lt;Text style={{ fontSize: 12, color: '#64748B', marginTop: 4, lineHeight: 1.4 }}&gt;&#10;                    明确强调“深化体教融合，保障青少年每天校内校外各1小时体育活动时间，有效遏制近视与肥胖”。&#10;                &lt;/Text&gt;&#10;            &lt;/Box&gt;&#10;&#10;            &lt;Box style={{ background: '#FFFFFF', padding: '12px', borderRadius: 8, borderLeft: '4px solid #0284C7' }}&gt;&#10;                &lt;Text style={{ fontSize: 14, fontWeight: 'bold', color: '#1E293B' }}&gt;&#10;                    《体育强国建设“十五五”规划》&#10;                &lt;/Text&gt;&#10;                &lt;Text style={{ fontSize: 12, color: '#64748B', marginTop: 4, lineHeight: 1.4 }}&gt;&#10;                    提出“推动全民健身智慧化转型，引导青年志愿服务深入基层社区，培育青少年终身体育意识”。&#10;                &lt;/Text&gt;&#10;            &lt;/Box&gt;&#10;        &lt;/Box&gt;&#10;&#10;        {/* 右栏：基层现实痛点 */}&#10;        &lt;Box style={{&#10;            flex: 55,&#10;            background: '#FFFFFF',&#10;            borderRadius: 10,&#10;            padding: '20px',&#10;            border: '1px solid #E2E8F0',&#10;            flexDirection: 'column',&#10;            gap: 10&#10;        }}&gt;&#10;            &lt;Text style={{ fontSize: 18, fontWeight: 'bold', color: '#0F172A' }}&gt;&#10;                ⚠️ 社区青少年面临的现实困局&#10;            &lt;/Text&gt;&#10;&#10;            &lt;Box style={{ flexDirection: 'row', gap: 10, alignItems: 'center', background: '#F8FAFC', padding: '10px 14px', borderRadius: 8 }}&gt;&#10;                &lt;Box style={{ width: 28, height: 28, borderRadius: 14, background: '#FEE2E2', justifyContent: 'center', alignItems: 'center' }}&gt;&#10;                    &lt;Text style={{ fontSize: 14, fontWeight: 'bold', color: '#EF4444' }}&gt;1&lt;/Text&gt;&#10;                &lt;/Box&gt;&#10;                &lt;Box style={{ flex: 1 }}&gt;&#10;                    &lt;Text style={{ fontSize: 14, fontWeight: 'bold', color: '#334155' }}&gt;屏幕成瘾加剧 · 户外活动严重匮乏&lt;/Text&gt;&#10;                    &lt;Text style={{ fontSize: 12, color: '#64748B', marginTop: 2 }}&gt;&#10;                        暑期儿童日均屏幕时间达 3.5+ 小时，沉迷短视频与游戏挤占真实社交与运动时间。&#10;                    &lt;/Text&gt;&#10;                &lt;/Box&gt;&#10;            &lt;/Box&gt;&#10;&#10;            &lt;Box style={{ flexDirection: 'row', gap: 10, alignItems: 'center', background: '#F8FAFC', padding: '10px 14px', borderRadius: 8 }}&gt;&#10;                &lt;Box style={{ width: 28, height: 28, borderRadius: 14, background: '#FEF3C7', justifyContent: 'center', alignItems: 'center' }}&gt;&#10;                    &lt;Text style={{ fontSize: 14, fontWeight: 'bold', color: '#F59E0B' }}&gt;2&lt;/Text&gt;&#10;                &lt;/Box&gt;&#10;                &lt;Box style={{ flex: 1 }}&gt;&#10;                    &lt;Text style={{ fontSize: 14, fontWeight: 'bold', color: '#334155' }}&gt;体质指标下滑 · 视力肥胖双重预警&lt;/Text&gt;&#10;                    &lt;Text style={{ fontSize: 12, color: '#64748B', marginTop: 2 }}&gt;&#10;                        社区儿童肺活量、核心肌力达标率走低，假性近视与脊柱侧弯低龄化趋势显著。&#10;                    &lt;/Text&gt;&#10;                &lt;/Box&gt;&#10;            &lt;/Box&gt;&#10;&#10;            &lt;Box style={{ flexDirection: 'row', gap: 10, alignItems: 'center', background: '#F8FAFC', padding: '10px 14px', borderRadius: 8 }}&gt;&#10;                &lt;Box style={{ width: 28, height: 28, borderRadius: 14, background: '#E0F2FE', justifyContent: 'center', alignItems: 'center' }}&gt;&#10;                    &lt;Text style={{ fontSize: 14, fontWeight: 'bold', color: '#0284C7' }}&gt;3&lt;/Text&gt;&#10;                &lt;/Box&gt;&#10;                &lt;Box style={{ flex: 1 }}&gt;&#10;                    &lt;Text style={{ fontSize: 14, fontWeight: 'bold', color: '#334155' }}&gt;缺乏长效抓手 · 单次宣讲难以持续&lt;/Text&gt;&#10;                    &lt;Text style={{ fontSize: 12, color: '#64748B', marginTop: 2 }}&gt;&#10;                        传统社会实践多停留在“一阵风式讲座”，缺乏家庭端常态化、低门槛的陪伴与指导工具。&#10;                    &lt;/Text&gt;&#10;                &lt;/Box&gt;&#10;            &lt;/Box&gt;&#10;        &lt;/Box&gt;&#10;    &lt;/Box&gt;&#10;&#10;    {/* C区：页脚 */}&#10;    &lt;Box style={{ flexDirection: 'row', justifyContent: 'space-between', alignItems: 'center', borderTop: '1px solid #E2E8F0', paddingTop: 10 }}&gt;&#10;        &lt;Text style={{ fontSize: 12, color: '#94A3B8' }}&gt;童健韶华 · 青少年体质提升与数字赋能行动&lt;/Text&gt;&#10;        &lt;Text style={{ fontSize: 12, color: '#94A3B8' }}&gt;03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5429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时代之问：电子屏幕时代的青少年体质挑战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542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篇章一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国家战略引领与现实痛点洞察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10363200" y="409575"/>
            <a:ext cx="1257300" cy="238125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0477500" y="457200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DC2626"/>
                </a:solidFill>
                <a:latin typeface="Microsoft YaHei"/>
                <a:ea typeface="Microsoft YaHei"/>
              </a:rPr>
              <a:t>现实危机与紧迫需求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71500" y="2333625"/>
            <a:ext cx="4886325" cy="2457450"/>
          </a:xfrm>
          <a:prstGeom prst="roundRect">
            <a:avLst>
              <a:gd name="adj" fmla="val 3876"/>
            </a:avLst>
          </a:prstGeom>
          <a:gradFill>
            <a:gsLst>
              <a:gs pos="0">
                <a:srgbClr val="EFF6FF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62000" y="2524125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4ED8"/>
                </a:solidFill>
                <a:latin typeface="Microsoft YaHei"/>
                <a:ea typeface="Microsoft YaHei"/>
              </a:rPr>
              <a:t>📜 </a:t>
            </a:r>
            <a:r>
              <a:rPr lang="zh-CN" sz="1350" b="1">
                <a:solidFill>
                  <a:srgbClr val="1D4ED8"/>
                </a:solidFill>
                <a:latin typeface="Microsoft YaHei"/>
                <a:ea typeface="Microsoft YaHei"/>
              </a:rPr>
              <a:t>国家战略指引方向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800100" y="2847975"/>
            <a:ext cx="45053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800100" y="2847975"/>
            <a:ext cx="4505325" cy="819150"/>
          </a:xfrm>
          <a:custGeom>
            <a:pathLst>
              <a:path w="473" h="8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2"/>
                </a:lnTo>
                <a:cubicBezTo>
                  <a:pt x="4" y="84"/>
                  <a:pt x="5" y="86"/>
                  <a:pt x="7" y="86"/>
                </a:cubicBezTo>
                <a:cubicBezTo>
                  <a:pt x="3" y="86"/>
                  <a:pt x="0" y="82"/>
                  <a:pt x="0" y="7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14400" y="2962275"/>
            <a:ext cx="423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《全民健身计划（</a:t>
            </a: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>2026—2030</a:t>
            </a: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年）》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14400" y="3162300"/>
            <a:ext cx="423862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明确强调“深化体教融合，保障青少年每天校内校外各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1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小时体育活动时间，有效遏制近视与肥胖”。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800100" y="3781425"/>
            <a:ext cx="45053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800100" y="3781425"/>
            <a:ext cx="4505325" cy="819150"/>
          </a:xfrm>
          <a:custGeom>
            <a:pathLst>
              <a:path w="473" h="8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2"/>
                </a:lnTo>
                <a:cubicBezTo>
                  <a:pt x="4" y="84"/>
                  <a:pt x="5" y="86"/>
                  <a:pt x="7" y="86"/>
                </a:cubicBezTo>
                <a:cubicBezTo>
                  <a:pt x="3" y="86"/>
                  <a:pt x="0" y="82"/>
                  <a:pt x="0" y="7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284C7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14400" y="3895725"/>
            <a:ext cx="423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《体育强国建设“十五五”规划》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14400" y="4095750"/>
            <a:ext cx="423862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提出“推动全民健身智慧化转型，引导青年志愿服务深入基层社区，培育青少年终身体育意识”。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5648325" y="2333625"/>
            <a:ext cx="5972175" cy="2457450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838825" y="2524125"/>
            <a:ext cx="5591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⚠️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社区青少年面临的现实困局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838825" y="2828925"/>
            <a:ext cx="5591175" cy="514350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5972175" y="29527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67425" y="30099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F444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334125" y="2924175"/>
            <a:ext cx="496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屏幕成瘾加剧</a:t>
            </a:r>
            <a:r>
              <a:rPr lang="en-US" sz="1050" b="1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户外活动严重匮乏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334125" y="3105150"/>
            <a:ext cx="4962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暑期儿童日均屏幕时间达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3.5+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小时，沉迷短视频与游戏挤占真实社交与运动时间。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5838825" y="3438525"/>
            <a:ext cx="5591175" cy="514350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5972175" y="35623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67425" y="36195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334125" y="3533775"/>
            <a:ext cx="496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体质指标下滑</a:t>
            </a:r>
            <a:r>
              <a:rPr lang="en-US" sz="1050" b="1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视力肥胖双重预警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334125" y="3714750"/>
            <a:ext cx="4962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社区儿童肺活量、核心肌力达标率走低，假性近视与脊柱侧弯低龄化趋势显著。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838825" y="4048125"/>
            <a:ext cx="5591175" cy="514350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5972175" y="41719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67425" y="42291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284C7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334125" y="4143375"/>
            <a:ext cx="496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缺乏长效抓手</a:t>
            </a:r>
            <a:r>
              <a:rPr lang="en-US" sz="1050" b="1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单次宣讲难以持续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334125" y="4324350"/>
            <a:ext cx="4962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传统社会实践多停留在“一阵风式讲座”，缺乏家庭端常态化、低门槛的陪伴与指导工具。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571500" y="6343650"/>
            <a:ext cx="11049000" cy="257175"/>
          </a:xfrm>
          <a:custGeom>
            <a:pathLst>
              <a:path w="1160" h="2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童健韶华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青少年体质提升与数字赋能行动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 style={{&#10;    width: 1280,&#10;    height: 720,&#10;    background: '#F8FAFC',&#10;    padding: '28px 60px',&#10;    display: 'flex',&#10;    flexDirection: 'column',&#10;    justifyContent: 'space-between'&#10;}}&gt;&#10;    {/* A区：标题栏 */}&#10;    &lt;Box style={{ flexDirection: 'row', justifyContent: 'space-between', alignItems: 'center' }}&gt;&#10;        &lt;Box style={{ flexDirection: 'column', gap: 2 }}&gt;&#10;            &lt;Text style={{ fontSize: 30, fontWeight: 'bold', color: '#1E3A8A' }}&gt;&#10;                破局之道：构建“认知-行为-数智”三位一体闭环&#10;            &lt;/Text&gt;&#10;            &lt;Text style={{ fontSize: 13, color: '#64748B' }}&gt;&#10;                篇章一 · 童健韶华团队创新服务模式设计&#10;            &lt;/Text&gt;&#10;        &lt;/Box&gt;&#10;        &lt;Box style={{ background: '#ECFDF5', padding: '5px 12px', borderRadius: 6, border: '1px solid #A7F3D0' }}&gt;&#10;            &lt;Text style={{ fontSize: 12, color: '#059669', fontWeight: 'bold' }}&gt;&#10;                创新机制闭环&#10;            &lt;/Text&gt;&#10;        &lt;/Box&gt;&#10;    &lt;/Box&gt;&#10;&#10;    {/* B区：三位一体架构 */}&#10;    &lt;Box style={{ flexDirection: 'column', gap: 12 }}&gt;&#10;        {/* 顶部引导语 */}&#10;        &lt;Box style={{ background: '#EFF6FF', padding: '10px 18px', borderRadius: 8, borderLeft: '4px solid #0284C7' }}&gt;&#10;            &lt;Text style={{ fontSize: 14, color: '#1E40AF', lineHeight: 1.4 }}&gt;&#10;                打破“单向说教”传统局限，童健韶华团队首创&lt;strong&gt;“以动代屏·三位一体”&lt;/strong&gt;长效育人与健康促进模式：&#10;            &lt;/Text&gt;&#10;        &lt;/Box&gt;&#10;&#10;        {/* 三大支柱卡片 */}&#10;        &lt;Box style={{ flexDirection: 'row', gap: 16 }}&gt;&#10;            {/* 支柱一：认知重塑 */}&#10;            &lt;Box style={{&#10;                flex: 1,&#10;                background: '#FFFFFF',&#10;                borderRadius: 10,&#10;                padding: '16px',&#10;                border: '1px solid #E2E8F0',&#10;                boxShadow: '0 4px 8px rgba(0,0,0,0.03)',&#10;                flexDirection: 'column',&#10;                gap: 8&#10;            }}&gt;&#10;                &lt;Box style={{ background: '#DBEAFE', padding: '4px 10px', borderRadius: 4, width: 85 }}&gt;&#10;                    &lt;Text style={{ fontSize: 12, color: '#1E40AF', fontWeight: 'bold' }}&gt;阶段一 · 认知&lt;/Text&gt;&#10;                &lt;/Box&gt;&#10;                &lt;Text style={{ fontSize: 17, fontWeight: 'bold', color: '#0F172A' }}&gt;&#10;                    网络素养课堂&#10;                &lt;/Text&gt;&#10;                &lt;Text style={{ fontSize: 12, color: '#0284C7', fontWeight: 'bold' }}&gt;&#10;                    “知其弊 · 立契约 · 懂自律”&#10;                &lt;/Text&gt;&#10;                &lt;Text style={{ fontSize: 12, color: '#64748B', lineHeight: 1.4 }}&gt;&#10;                    • 沉迷危害情景式警示&lt;br /&gt;&#10;                    • 《家庭健康用网微公约》&lt;br /&gt;&#10;                    • 互动竞赛树立科学时间观&#10;                &lt;/Text&gt;&#10;            &lt;/Box&gt;&#10;&#10;            {/* 支柱二：行为替代 */}&#10;            &lt;Box style={{&#10;                flex: 1,&#10;                background: '#FFFFFF',&#10;                borderRadius: 10,&#10;                padding: '16px',&#10;                border: '1px solid #E2E8F0',&#10;                boxShadow: '0 4px 8px rgba(0,0,0,0.03)',&#10;                flexDirection: 'column',&#10;                gap: 8&#10;            }}&gt;&#10;                &lt;Box style={{ background: '#FEF3C7', padding: '4px 10px', borderRadius: 4, width: 85 }}&gt;&#10;                    &lt;Text style={{ fontSize: 12, color: '#92400E', fontWeight: 'bold' }}&gt;阶段二 · 行为&lt;/Text&gt;&#10;                &lt;/Box&gt;&#10;                &lt;Text style={{ fontSize: 17, fontWeight: 'bold', color: '#0F172A' }}&gt;&#10;                    趣味运动替代&#10;                &lt;/Text&gt;&#10;                &lt;Text style={{ fontSize: 12, color: '#D97706', fontWeight: 'bold' }}&gt;&#10;                    “以趣促动 · 强体魄 · 享社交”&#10;                &lt;/Text&gt;&#10;                &lt;Text style={{ fontSize: 12, color: '#64748B', lineHeight: 1.4 }}&gt;&#10;                    • 低门槛高趣味运动矩阵&lt;br /&gt;&#10;                    • 亲子互动与团队接力竞逐&lt;br /&gt;&#10;                    • 每日运动打卡积分激励&#10;                &lt;/Text&gt;&#10;            &lt;/Box&gt;&#10;&#10;            {/* 支柱三：数智长效 */}&#10;            &lt;Box style={{&#10;                flex: 1,&#10;                background: '#FFFFFF',&#10;                borderRadius: 10,&#10;                padding: '16px',&#10;                border: '1px solid #E2E8F0',&#10;                boxShadow: '0 4px 8px rgba(0,0,0,0.03)',&#10;                flexDirection: 'column',&#10;                gap: 8&#10;            }}&gt;&#10;                &lt;Box style={{ background: '#DCFCE7', padding: '4px 10px', borderRadius: 4, width: 85 }}&gt;&#10;                    &lt;Text style={{ fontSize: 12, color: '#166534', fontWeight: 'bold' }}&gt;阶段三 · 数智&lt;/Text&gt;&#10;                &lt;/Box&gt;&#10;                &lt;Text style={{ fontSize: 17, fontWeight: 'bold', color: '#0F172A' }}&gt;&#10;                    自研AI工具护航&#10;                &lt;/Text&gt;&#10;                &lt;Text style={{ fontSize: 12, color: '#059669', fontWeight: 'bold' }}&gt;&#10;                    “千人千面 · 随身教 · 长守护”&#10;                &lt;/Text&gt;&#10;                &lt;Text style={{ fontSize: 12, color: '#64748B', lineHeight: 1.4 }}&gt;&#10;                    • AI体质检测秒级雷达评估&lt;br /&gt;&#10;                    • AI健身教练个性化方案&lt;br /&gt;&#10;                    • PWA扫码即用 7×24h陪伴&#10;                &lt;/Text&gt;&#10;            &lt;/Box&gt;&#10;        &lt;/Box&gt;&#10;&#10;        {/* 底部闭环保障机制 */}&#10;        &lt;Box style={{ background: '#FFFFFF', borderRadius: 6, padding: '10px 18px', border: '1px dashed #94A3B8' }}&gt;&#10;            &lt;Text style={{ fontSize: 12, color: '#475569', textAlign: 'center' }}&gt;&#10;                🔄 &lt;strong&gt;闭环目标&lt;/strong&gt;：从“被动限制屏幕”升级为“主动拥抱健康运动”，实现高校智力与基层社区常态化衔接。&#10;            &lt;/Text&gt;&#10;        &lt;/Box&gt;&#10;    &lt;/Box&gt;&#10;&#10;    {/* C区：页脚 */}&#10;    &lt;Box style={{ flexDirection: 'row', justifyContent: 'space-between', alignItems: 'center', borderTop: '1px solid #E2E8F0', paddingTop: 10 }}&gt;&#10;        &lt;Text style={{ fontSize: 12, color: '#94A3B8' }}&gt;童健韶华 · 青少年体质提升与数字赋能行动&lt;/Text&gt;&#10;        &lt;Text style={{ fontSize: 12, color: '#94A3B8' }}&gt;04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6257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破局之道：构建“认知</a:t>
            </a:r>
            <a:r>
              <a:rPr lang="en-US" sz="2250" b="1">
                <a:solidFill>
                  <a:srgbClr val="1E3A8A"/>
                </a:solidFill>
                <a:latin typeface="Microsoft YaHei"/>
                <a:ea typeface="Microsoft YaHei"/>
              </a:rPr>
              <a:t>-</a:t>
            </a: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行为</a:t>
            </a:r>
            <a:r>
              <a:rPr lang="en-US" sz="2250" b="1">
                <a:solidFill>
                  <a:srgbClr val="1E3A8A"/>
                </a:solidFill>
                <a:latin typeface="Microsoft YaHei"/>
                <a:ea typeface="Microsoft YaHei"/>
              </a:rPr>
              <a:t>-</a:t>
            </a: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数智”三位一体闭环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6257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篇章一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童健韶华团队创新服务模式设计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10706100" y="409575"/>
            <a:ext cx="914400" cy="238125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0820400" y="4572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59669"/>
                </a:solidFill>
                <a:latin typeface="Microsoft YaHei"/>
                <a:ea typeface="Microsoft YaHei"/>
              </a:rPr>
              <a:t>创新机制闭环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2171700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609600" y="2171700"/>
            <a:ext cx="11049000" cy="419100"/>
          </a:xfrm>
          <a:custGeom>
            <a:pathLst>
              <a:path w="1160" h="4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0"/>
                </a:lnTo>
                <a:cubicBezTo>
                  <a:pt x="4" y="42"/>
                  <a:pt x="5" y="44"/>
                  <a:pt x="7" y="44"/>
                </a:cubicBezTo>
                <a:cubicBezTo>
                  <a:pt x="3" y="44"/>
                  <a:pt x="0" y="40"/>
                  <a:pt x="0" y="3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284C7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81050" y="2266950"/>
            <a:ext cx="106680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1E40AF"/>
                </a:solidFill>
                <a:latin typeface="Microsoft YaHei"/>
                <a:ea typeface="Microsoft YaHei"/>
              </a:rPr>
              <a:t>打破“单向说教”传统局限，童健韶华团队首创</a:t>
            </a:r>
            <a:r>
              <a:rPr lang="zh-CN" sz="1050" b="1">
                <a:solidFill>
                  <a:srgbClr val="1E40AF"/>
                </a:solidFill>
                <a:latin typeface="Microsoft YaHei"/>
                <a:ea typeface="Microsoft YaHei"/>
              </a:rPr>
              <a:t>“以动代屏·三位一体”</a:t>
            </a:r>
            <a:r>
              <a:rPr lang="zh-CN" sz="1050">
                <a:solidFill>
                  <a:srgbClr val="1E40AF"/>
                </a:solidFill>
                <a:latin typeface="Microsoft YaHei"/>
                <a:ea typeface="Microsoft YaHei"/>
              </a:rPr>
              <a:t>长效育人与健康促进模式：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71500" y="2705100"/>
            <a:ext cx="3581400" cy="18097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723900" y="2857500"/>
            <a:ext cx="809625" cy="352425"/>
          </a:xfrm>
          <a:prstGeom prst="roundRect">
            <a:avLst>
              <a:gd name="adj" fmla="val 10811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19150" y="2895600"/>
            <a:ext cx="61912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阶段一</a:t>
            </a:r>
            <a:r>
              <a:rPr lang="en-US" sz="900" b="1">
                <a:solidFill>
                  <a:srgbClr val="1E40AF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认知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23900" y="3286125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网络素养课堂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23900" y="3562350"/>
            <a:ext cx="3276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284C7"/>
                </a:solidFill>
                <a:latin typeface="Microsoft YaHei"/>
                <a:ea typeface="Microsoft YaHei"/>
              </a:rPr>
              <a:t>“知其弊</a:t>
            </a:r>
            <a:r>
              <a:rPr lang="en-US" sz="900" b="1">
                <a:solidFill>
                  <a:srgbClr val="0284C7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0284C7"/>
                </a:solidFill>
                <a:latin typeface="Microsoft YaHei"/>
                <a:ea typeface="Microsoft YaHei"/>
              </a:rPr>
              <a:t>立契约</a:t>
            </a:r>
            <a:r>
              <a:rPr lang="en-US" sz="900" b="1">
                <a:solidFill>
                  <a:srgbClr val="0284C7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0284C7"/>
                </a:solidFill>
                <a:latin typeface="Microsoft YaHei"/>
                <a:ea typeface="Microsoft YaHei"/>
              </a:rPr>
              <a:t>懂自律”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23900" y="3781425"/>
            <a:ext cx="3276600" cy="581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沉迷危害情景式警示</a:t>
            </a:r>
            <a:endParaRPr/>
          </a:p>
          <a:p>
            <a:pPr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《家庭健康用网微公约》</a:t>
            </a:r>
            <a:endParaRPr/>
          </a:p>
          <a:p>
            <a:pPr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互动竞赛树立科学时间观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305300" y="2705100"/>
            <a:ext cx="3581400" cy="18097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4457700" y="2857500"/>
            <a:ext cx="809625" cy="352425"/>
          </a:xfrm>
          <a:prstGeom prst="roundRect">
            <a:avLst>
              <a:gd name="adj" fmla="val 10811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552950" y="2895600"/>
            <a:ext cx="61912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92400E"/>
                </a:solidFill>
                <a:latin typeface="Microsoft YaHei"/>
                <a:ea typeface="Microsoft YaHei"/>
              </a:rPr>
              <a:t>阶段二</a:t>
            </a:r>
            <a:r>
              <a:rPr lang="en-US" sz="900" b="1">
                <a:solidFill>
                  <a:srgbClr val="92400E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92400E"/>
                </a:solidFill>
                <a:latin typeface="Microsoft YaHei"/>
                <a:ea typeface="Microsoft YaHei"/>
              </a:rPr>
              <a:t>行为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457700" y="3286125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趣味运动替代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457700" y="3562350"/>
            <a:ext cx="3276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D97706"/>
                </a:solidFill>
                <a:latin typeface="Microsoft YaHei"/>
                <a:ea typeface="Microsoft YaHei"/>
              </a:rPr>
              <a:t>“以趣促动</a:t>
            </a:r>
            <a:r>
              <a:rPr lang="en-US" sz="900" b="1">
                <a:solidFill>
                  <a:srgbClr val="D97706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D97706"/>
                </a:solidFill>
                <a:latin typeface="Microsoft YaHei"/>
                <a:ea typeface="Microsoft YaHei"/>
              </a:rPr>
              <a:t>强体魄</a:t>
            </a:r>
            <a:r>
              <a:rPr lang="en-US" sz="900" b="1">
                <a:solidFill>
                  <a:srgbClr val="D97706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D97706"/>
                </a:solidFill>
                <a:latin typeface="Microsoft YaHei"/>
                <a:ea typeface="Microsoft YaHei"/>
              </a:rPr>
              <a:t>享社交”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457700" y="3781425"/>
            <a:ext cx="3276600" cy="581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低门槛高趣味运动矩阵</a:t>
            </a:r>
            <a:endParaRPr/>
          </a:p>
          <a:p>
            <a:pPr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亲子互动与团队接力竞逐</a:t>
            </a:r>
            <a:endParaRPr/>
          </a:p>
          <a:p>
            <a:pPr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每日运动打卡积分激励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039100" y="2705100"/>
            <a:ext cx="3581400" cy="18097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8191500" y="2857500"/>
            <a:ext cx="809625" cy="352425"/>
          </a:xfrm>
          <a:prstGeom prst="roundRect">
            <a:avLst>
              <a:gd name="adj" fmla="val 10811"/>
            </a:avLst>
          </a:prstGeom>
          <a:solidFill>
            <a:srgbClr val="DCFCE7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286750" y="2895600"/>
            <a:ext cx="61912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66534"/>
                </a:solidFill>
                <a:latin typeface="Microsoft YaHei"/>
                <a:ea typeface="Microsoft YaHei"/>
              </a:rPr>
              <a:t>阶段三</a:t>
            </a:r>
            <a:r>
              <a:rPr lang="en-US" sz="900" b="1">
                <a:solidFill>
                  <a:srgbClr val="166534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166534"/>
                </a:solidFill>
                <a:latin typeface="Microsoft YaHei"/>
                <a:ea typeface="Microsoft YaHei"/>
              </a:rPr>
              <a:t>数智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191500" y="3286125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自研</a:t>
            </a: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AI</a:t>
            </a: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工具护航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191500" y="3562350"/>
            <a:ext cx="3276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59669"/>
                </a:solidFill>
                <a:latin typeface="Microsoft YaHei"/>
                <a:ea typeface="Microsoft YaHei"/>
              </a:rPr>
              <a:t>“千人千面</a:t>
            </a:r>
            <a:r>
              <a:rPr lang="en-US" sz="900" b="1">
                <a:solidFill>
                  <a:srgbClr val="059669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059669"/>
                </a:solidFill>
                <a:latin typeface="Microsoft YaHei"/>
                <a:ea typeface="Microsoft YaHei"/>
              </a:rPr>
              <a:t>随身教</a:t>
            </a:r>
            <a:r>
              <a:rPr lang="en-US" sz="900" b="1">
                <a:solidFill>
                  <a:srgbClr val="059669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059669"/>
                </a:solidFill>
                <a:latin typeface="Microsoft YaHei"/>
                <a:ea typeface="Microsoft YaHei"/>
              </a:rPr>
              <a:t>长守护”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191500" y="3781425"/>
            <a:ext cx="3276600" cy="581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AI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体质检测秒级雷达评估</a:t>
            </a:r>
            <a:endParaRPr/>
          </a:p>
          <a:p>
            <a:pPr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AI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健身教练个性化方案</a:t>
            </a:r>
            <a:endParaRPr/>
          </a:p>
          <a:p>
            <a:pPr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PWA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扫码即用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7×24h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陪伴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571500" y="4629150"/>
            <a:ext cx="11049000" cy="333375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42950" y="4724400"/>
            <a:ext cx="107061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🔄 </a:t>
            </a:r>
            <a:r>
              <a:rPr lang="zh-CN" sz="900" b="1">
                <a:solidFill>
                  <a:srgbClr val="475569"/>
                </a:solidFill>
                <a:latin typeface="Microsoft YaHei"/>
                <a:ea typeface="Microsoft YaHei"/>
              </a:rPr>
              <a:t>闭环目标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：从“被动限制屏幕”升级为“主动拥抱健康运动”，实现高校智力与基层社区常态化衔接。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71500" y="6343650"/>
            <a:ext cx="11049000" cy="257175"/>
          </a:xfrm>
          <a:custGeom>
            <a:pathLst>
              <a:path w="1160" h="2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童健韶华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青少年体质提升与数字赋能行动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84" name="" descr="&lt;Slide style={{&#10;    width: 1280,&#10;    height: 720,&#10;    background: '#F8FAFC',&#10;    padding: '28px 60px',&#10;    display: 'flex',&#10;    flexDirection: 'column',&#10;    justifyContent: 'space-between'&#10;}}&gt;&#10;    {/* A区：标题栏 */}&#10;    &lt;Box style={{ flexDirection: 'row', justifyContent: 'space-between', alignItems: 'center' }}&gt;&#10;        &lt;Box style={{ flexDirection: 'column', gap: 2 }}&gt;&#10;            &lt;Text style={{ fontSize: 30, fontWeight: 'bold', color: '#1E3A8A' }}&gt;&#10;                线下实践篇 · 专题课堂启智：筑牢数字自律防线&#10;            &lt;/Text&gt;&#10;            &lt;Text style={{ fontSize: 13, color: '#64748B' }}&gt;&#10;                篇章二 · 线下双轨互动实践 · 网络素养认知启蒙&#10;            &lt;/Text&gt;&#10;        &lt;/Box&gt;&#10;        &lt;Box style={{ background: '#EFF6FF', padding: '5px 12px', borderRadius: 6, border: '1px solid #BFDBFE' }}&gt;&#10;            &lt;Text style={{ fontSize: 12, color: '#1D4ED8', fontWeight: 'bold' }}&gt;&#10;                认知重塑 · 源头治理&#10;            &lt;/Text&gt;&#10;        &lt;/Box&gt;&#10;    &lt;/Box&gt;&#10;&#10;    {/* B区：左图右文结构 */}&#10;    &lt;Box style={{ flexDirection: 'row', gap: 20 }}&gt;&#10;        {/* 左侧实景卡片 */}&#10;        &lt;Box style={{&#10;            flex: 45,&#10;            background: '#FFFFFF',&#10;            borderRadius: 10,&#10;            padding: '14px',&#10;            border: '1px solid #E2E8F0',&#10;            boxShadow: '0 4px 10px rgba(0,0,0,0.03)',&#10;            flexDirection: 'column',&#10;            gap: 10&#10;        }}&gt;&#10;            &lt;Image src=&quot;assets/crop_im1.png&quot; style={{ width: '100%', height: 310, borderRadius: 6, objectFit: 'cover' }} /&gt;&#10;            &lt;Box style={{ background: '#F8FAFC', padding: '8px 12px', borderRadius: 6 }}&gt;&#10;                &lt;Text style={{ fontSize: 12, color: '#475569', lineHeight: 1.4 }}&gt;&#10;                    📷 &lt;strong&gt;现场直击&lt;/strong&gt;：志愿者开展网络沉迷科普宣讲，组织孩子们签署家庭用网公约并积极互动答题。&#10;                &lt;/Text&gt;&#10;            &lt;/Box&gt;&#10;        &lt;/Box&gt;&#10;&#10;        {/* 右侧核心策略与落地成效 */}&#10;        &lt;Box style={{&#10;            flex: 55,&#10;            flexDirection: 'column',&#10;            gap: 10&#10;        }}&gt;&#10;            {/* 模块一 */}&#10;            &lt;Box style={{&#10;                background: '#FFFFFF',&#10;                borderRadius: 8,&#10;                padding: '14px 18px',&#10;                border: '1px solid #E2E8F0',&#10;                borderLeft: '4px solid #0284C7'&#10;            }}&gt;&#10;                &lt;Text style={{ fontSize: 15, fontWeight: 'bold', color: '#0F172A' }}&gt;&#10;                    1. 沉迷危害情景式警示 · 破除被动认知&#10;                &lt;/Text&gt;&#10;                &lt;Text style={{ fontSize: 12, color: '#64748B', marginTop: 4, lineHeight: 1.4 }}&gt;&#10;                    以动漫短片、真实案例剖析长时间刷手机对大脑专注力、脊柱发育与视力的损伤，变“家长唠叨”为“主动警醒”。&#10;                &lt;/Text&gt;&#10;            &lt;/Box&gt;&#10;&#10;            {/* 模块二 */}&#10;            &lt;Box style={{&#10;                background: '#FFFFFF',&#10;                borderRadius: 8,&#10;                padding: '14px 18px',&#10;                border: '1px solid #E2E8F0',&#10;                borderLeft: '4px solid #F59E0B'&#10;            }}&gt;&#10;                &lt;Text style={{ fontSize: 15, fontWeight: 'bold', color: '#0F172A' }}&gt;&#10;                    2. 《家庭健康用网微公约》· 确立契约自律&#10;                &lt;/Text&gt;&#10;                &lt;Text style={{ fontSize: 12, color: '#64748B', marginTop: 4, lineHeight: 1.4 }}&gt;&#10;                    现场引导青少年与家长共同制定“无屏用餐”、“睡前控屏”家庭公约，建立平等协商与自我监督的长效机制。&#10;                &lt;/Text&gt;&#10;            &lt;/Box&gt;&#10;&#10;            {/* 模块三 */}&#10;            &lt;Box style={{&#10;                background: '#FFFFFF',&#10;                borderRadius: 8,&#10;                padding: '14px 18px',&#10;                border: '1px solid #E2E8F0',&#10;                borderLeft: '4px solid #10B981'&#10;            }}&gt;&#10;                &lt;Text style={{ fontSize: 15, fontWeight: 'bold', color: '#0F172A' }}&gt;&#10;                    3. 趣味素养问答抢答 · 激发自主内驱力&#10;                &lt;/Text&gt;&#10;                &lt;Text style={{ fontSize: 12, color: '#64748B', marginTop: 4, lineHeight: 1.4 }}&gt;&#10;                    设置护眼知识、健康作息积分抢答，全员参与率 100%，让健康护眼与自律用网的理念在欢笑中深植童心。&#10;                &lt;/Text&gt;&#10;            &lt;/Box&gt;&#10;        &lt;/Box&gt;&#10;    &lt;/Box&gt;&#10;&#10;    {/* C区：页脚 */}&#10;    &lt;Box style={{ flexDirection: 'row', justifyContent: 'space-between', alignItems: 'center', borderTop: '1px solid #E2E8F0', paddingTop: 10 }}&gt;&#10;        &lt;Text style={{ fontSize: 12, color: '#94A3B8' }}&gt;童健韶华 · 青少年体质提升与数字赋能行动&lt;/Text&gt;&#10;        &lt;Text style={{ fontSize: 12, color: '#94A3B8' }}&gt;05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6019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线下实践篇</a:t>
            </a:r>
            <a:r>
              <a:rPr lang="en-US" sz="2250" b="1">
                <a:solidFill>
                  <a:srgbClr val="1E3A8A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专题课堂启智：筑牢数字自律防线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601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篇章二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线下双轨互动实践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网络素养认知启蒙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10353675" y="409575"/>
            <a:ext cx="1266825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0467975" y="457200"/>
            <a:ext cx="1038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D4ED8"/>
                </a:solidFill>
                <a:latin typeface="Microsoft YaHei"/>
                <a:ea typeface="Microsoft YaHei"/>
              </a:rPr>
              <a:t>认知重塑</a:t>
            </a:r>
            <a:r>
              <a:rPr lang="en-US" sz="900" b="1">
                <a:solidFill>
                  <a:srgbClr val="1D4ED8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1D4ED8"/>
                </a:solidFill>
                <a:latin typeface="Microsoft YaHei"/>
                <a:ea typeface="Microsoft YaHei"/>
              </a:rPr>
              <a:t>源头治理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571500" y="1638300"/>
            <a:ext cx="4886325" cy="38576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pic>
        <p:nvPicPr>
          <p:cNvPr id="191" name=""/>
          <p:cNvPicPr>
            <a:picLocks noChangeAspect="1"/>
          </p:cNvPicPr>
          <p:nvPr/>
        </p:nvPicPr>
        <p:blipFill>
          <a:blip r:embed="rId1"/>
          <a:srcRect l="13020" t="0" r="13020" b="0"/>
          <a:stretch>
            <a:fillRect/>
          </a:stretch>
        </p:blipFill>
        <p:spPr>
          <a:xfrm rot="0" flipH="0" flipV="0">
            <a:off x="704850" y="1771650"/>
            <a:ext cx="4619625" cy="2952750"/>
          </a:xfrm>
          <a:prstGeom prst="roundRect">
            <a:avLst>
              <a:gd name="adj" fmla="val 1935"/>
            </a:avLst>
          </a:prstGeom>
          <a:ln/>
        </p:spPr>
      </p:pic>
      <p:sp>
        <p:nvSpPr>
          <p:cNvPr id="192" name=""/>
          <p:cNvSpPr/>
          <p:nvPr/>
        </p:nvSpPr>
        <p:spPr>
          <a:xfrm rot="0" flipH="0" flipV="0">
            <a:off x="704850" y="4819650"/>
            <a:ext cx="4619625" cy="54292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19150" y="4895850"/>
            <a:ext cx="439102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📷 </a:t>
            </a:r>
            <a:r>
              <a:rPr lang="zh-CN" sz="900" b="1">
                <a:solidFill>
                  <a:srgbClr val="475569"/>
                </a:solidFill>
                <a:latin typeface="Microsoft YaHei"/>
                <a:ea typeface="Microsoft YaHei"/>
              </a:rPr>
              <a:t>现场直击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：志愿者开展网络沉迷科普宣讲，组织孩子们签署家庭用网公约并积极互动答题。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5686425" y="1638300"/>
            <a:ext cx="5972175" cy="866775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5686425" y="1638300"/>
            <a:ext cx="5972175" cy="866775"/>
          </a:xfrm>
          <a:custGeom>
            <a:pathLst>
              <a:path w="627" h="9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7"/>
                </a:lnTo>
                <a:cubicBezTo>
                  <a:pt x="4" y="89"/>
                  <a:pt x="5" y="91"/>
                  <a:pt x="7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284C7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857875" y="1771650"/>
            <a:ext cx="559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1.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沉迷危害情景式警示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破除被动认知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857875" y="1981200"/>
            <a:ext cx="55911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以动漫短片、真实案例剖析长时间刷手机对大脑专注力、脊柱发育与视力的损伤，变“家长唠叨”为“主动警醒”。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686425" y="2600325"/>
            <a:ext cx="5972175" cy="866775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5686425" y="2600325"/>
            <a:ext cx="5972175" cy="866775"/>
          </a:xfrm>
          <a:custGeom>
            <a:pathLst>
              <a:path w="627" h="9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7"/>
                </a:lnTo>
                <a:cubicBezTo>
                  <a:pt x="4" y="89"/>
                  <a:pt x="5" y="91"/>
                  <a:pt x="7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857875" y="2733675"/>
            <a:ext cx="559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2.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《家庭健康用网微公约》·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确立契约自律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857875" y="2943225"/>
            <a:ext cx="55911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现场引导青少年与家长共同制定“无屏用餐”、“睡前控屏”家庭公约，建立平等协商与自我监督的长效机制。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5686425" y="3562350"/>
            <a:ext cx="5972175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5686425" y="3562350"/>
            <a:ext cx="5972175" cy="676275"/>
          </a:xfrm>
          <a:custGeom>
            <a:pathLst>
              <a:path w="627" h="7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7"/>
                </a:lnTo>
                <a:cubicBezTo>
                  <a:pt x="4" y="69"/>
                  <a:pt x="5" y="71"/>
                  <a:pt x="7" y="71"/>
                </a:cubicBezTo>
                <a:cubicBezTo>
                  <a:pt x="3" y="71"/>
                  <a:pt x="0" y="67"/>
                  <a:pt x="0" y="6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857875" y="3695700"/>
            <a:ext cx="559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3.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趣味素养问答抢答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激发自主内驱力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857875" y="3905250"/>
            <a:ext cx="55911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设置护眼知识、健康作息积分抢答，全员参与率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100%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，让健康护眼与自律用网的理念在欢笑中深植童心。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571500" y="6343650"/>
            <a:ext cx="11049000" cy="257175"/>
          </a:xfrm>
          <a:custGeom>
            <a:pathLst>
              <a:path w="1160" h="2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童健韶华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青少年体质提升与数字赋能行动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09" name="" descr="&lt;Slide style={{&#10;    width: 1280,&#10;    height: 720,&#10;    background: '#F8FAFC',&#10;    padding: '28px 60px',&#10;    display: 'flex',&#10;    flexDirection: 'column',&#10;    justifyContent: 'space-between'&#10;}}&gt;&#10;    {/* A区：标题栏 */}&#10;    &lt;Box style={{ flexDirection: 'row', justifyContent: 'space-between', alignItems: 'center' }}&gt;&#10;        &lt;Box style={{ flexDirection: 'column', gap: 2 }}&gt;&#10;            &lt;Text style={{ fontSize: 30, fontWeight: 'bold', color: '#1E3A8A' }}&gt;&#10;                线下实践篇 · 活力运动筑基：趣味替代屏幕依赖&#10;            &lt;/Text&gt;&#10;            &lt;Text style={{ fontSize: 13, color: '#64748B' }}&gt;&#10;                篇章二 · 线下双轨互动实践 · 趣味运动会与物理替代&#10;            &lt;/Text&gt;&#10;        &lt;/Box&gt;&#10;        &lt;Box style={{ background: '#FFF7ED', padding: '5px 12px', borderRadius: 6, border: '1px solid #FFEDD5' }}&gt;&#10;            &lt;Text style={{ fontSize: 12, color: '#C2410C', fontWeight: 'bold' }}&gt;&#10;                以趣促动 · 行为转化&#10;            &lt;/Text&gt;&#10;        &lt;/Box&gt;&#10;    &lt;/Box&gt;&#10;&#10;    {/* B区：左图右文结构 */}&#10;    &lt;Box style={{ flexDirection: 'row', gap: 20 }}&gt;&#10;        {/* 左侧实景卡片 */}&#10;        &lt;Box style={{&#10;            flex: 45,&#10;            background: '#FFFFFF',&#10;            borderRadius: 10,&#10;            padding: '14px',&#10;            border: '1px solid #E2E8F0',&#10;            boxShadow: '0 4px 10px rgba(0,0,0,0.03)',&#10;            flexDirection: 'column',&#10;            gap: 10&#10;        }}&gt;&#10;            &lt;Image src=&quot;assets/crop_im2.png&quot; style={{ width: '100%', height: 310, borderRadius: 6, objectFit: 'cover' }} /&gt;&#10;            &lt;Box style={{ background: '#F8FAFC', padding: '8px 12px', borderRadius: 6 }}&gt;&#10;                &lt;Text style={{ fontSize: 12, color: '#475569', lineHeight: 1.4 }}&gt;&#10;                    🏃 &lt;strong&gt;现场直击&lt;/strong&gt;：趣味运动会火热开展，亲子接力、敏捷跳跃点燃全场，让运动汗水替代屏幕蓝光。&#10;                &lt;/Text&gt;&#10;            &lt;/Box&gt;&#10;        &lt;/Box&gt;&#10;&#10;        {/* 右侧核心运动矩阵 */}&#10;        &lt;Box style={{&#10;            flex: 55,&#10;            flexDirection: 'column',&#10;            gap: 10&#10;        }}&gt;&#10;            {/* 矩阵一 */}&#10;            &lt;Box style={{&#10;                background: '#FFFFFF',&#10;                borderRadius: 8,&#10;                padding: '14px 18px',&#10;                border: '1px solid #E2E8F0',&#10;                borderLeft: '4px solid #F97316'&#10;            }}&gt;&#10;                &lt;Text style={{ fontSize: 15, fontWeight: 'bold', color: '#0F172A' }}&gt;&#10;                    1. 低门槛趣味运动矩阵 · 降低参与门槛&#10;                &lt;/Text&gt;&#10;                &lt;Text style={{ fontSize: 12, color: '#64748B', marginTop: 4, lineHeight: 1.4 }}&gt;&#10;                    定制“敏捷梯跳跃、跳绳接力、趣味投壶、亲子障碍跑”等趣味项目，不设复杂器械门槛，人人可参与、人人能出汗。&#10;                &lt;/Text&gt;&#10;            &lt;/Box&gt;&#10;&#10;            {/* 矩阵二 */}&#10;            &lt;Box style={{&#10;                background: '#FFFFFF',&#10;                borderRadius: 8,&#10;                padding: '14px 18px',&#10;                border: '1px solid #E2E8F0',&#10;                borderLeft: '4px solid #0284C7'&#10;            }}&gt;&#10;                &lt;Text style={{ fontSize: 15, fontWeight: 'bold', color: '#0F172A' }}&gt;&#10;                    2. 亲子协同与团队竞争 · 重塑真实社交乐趣&#10;                &lt;/Text&gt;&#10;                &lt;Text style={{ fontSize: 12, color: '#64748B', marginTop: 4, lineHeight: 1.4 }}&gt;&#10;                    推行“小手拉大手”亲子协作积分制，用奔跑竞技的欢笑声取代虚拟世界的点赞，修复因屏幕疏离的家庭亲情。&#10;                &lt;/Text&gt;&#10;            &lt;/Box&gt;&#10;&#10;            {/* 矩阵三 */}&#10;            &lt;Box style={{&#10;                background: '#FFFFFF',&#10;                borderRadius: 8,&#10;                padding: '14px 18px',&#10;                border: '1px solid #E2E8F0',&#10;                borderLeft: '4px solid #10B981'&#10;            }}&gt;&#10;                &lt;Text style={{ fontSize: 15, fontWeight: 'bold', color: '#0F172A' }}&gt;&#10;                    3. 每日运动打卡激励 · 沉淀长效习惯&#10;                &lt;/Text&gt;&#10;                &lt;Text style={{ fontSize: 12, color: '#64748B', marginTop: 4, lineHeight: 1.4 }}&gt;&#10;                    现场发放《童健韶华每日运动打卡卡》，设定 11 天周期连续打卡徽章激励，推动运动从“单次活动”变为“终身习惯”。&#10;                &lt;/Text&gt;&#10;            &lt;/Box&gt;&#10;        &lt;/Box&gt;&#10;    &lt;/Box&gt;&#10;&#10;    {/* C区：页脚 */}&#10;    &lt;Box style={{ flexDirection: 'row', justifyContent: 'space-between', alignItems: 'center', borderTop: '1px solid #E2E8F0', paddingTop: 10 }}&gt;&#10;        &lt;Text style={{ fontSize: 12, color: '#94A3B8' }}&gt;童健韶华 · 青少年体质提升与数字赋能行动&lt;/Text&gt;&#10;        &lt;Text style={{ fontSize: 12, color: '#94A3B8' }}&gt;06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6019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线下实践篇</a:t>
            </a:r>
            <a:r>
              <a:rPr lang="en-US" sz="2250" b="1">
                <a:solidFill>
                  <a:srgbClr val="1E3A8A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活力运动筑基：趣味替代屏幕依赖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601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篇章二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线下双轨互动实践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趣味运动会与物理替代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10353675" y="409575"/>
            <a:ext cx="1266825" cy="238125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0467975" y="457200"/>
            <a:ext cx="1038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2410C"/>
                </a:solidFill>
                <a:latin typeface="Microsoft YaHei"/>
                <a:ea typeface="Microsoft YaHei"/>
              </a:rPr>
              <a:t>以趣促动</a:t>
            </a:r>
            <a:r>
              <a:rPr lang="en-US" sz="900" b="1">
                <a:solidFill>
                  <a:srgbClr val="C2410C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C2410C"/>
                </a:solidFill>
                <a:latin typeface="Microsoft YaHei"/>
                <a:ea typeface="Microsoft YaHei"/>
              </a:rPr>
              <a:t>行为转化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571500" y="1638300"/>
            <a:ext cx="4886325" cy="38576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pic>
        <p:nvPicPr>
          <p:cNvPr id="216" name=""/>
          <p:cNvPicPr>
            <a:picLocks noChangeAspect="1"/>
          </p:cNvPicPr>
          <p:nvPr/>
        </p:nvPicPr>
        <p:blipFill>
          <a:blip r:embed="rId1"/>
          <a:srcRect l="13020" t="0" r="13020" b="0"/>
          <a:stretch>
            <a:fillRect/>
          </a:stretch>
        </p:blipFill>
        <p:spPr>
          <a:xfrm rot="0" flipH="0" flipV="0">
            <a:off x="704850" y="1771650"/>
            <a:ext cx="4619625" cy="2952750"/>
          </a:xfrm>
          <a:prstGeom prst="roundRect">
            <a:avLst>
              <a:gd name="adj" fmla="val 1935"/>
            </a:avLst>
          </a:prstGeom>
          <a:ln/>
        </p:spPr>
      </p:pic>
      <p:sp>
        <p:nvSpPr>
          <p:cNvPr id="217" name=""/>
          <p:cNvSpPr/>
          <p:nvPr/>
        </p:nvSpPr>
        <p:spPr>
          <a:xfrm rot="0" flipH="0" flipV="0">
            <a:off x="704850" y="4819650"/>
            <a:ext cx="4619625" cy="54292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19150" y="4895850"/>
            <a:ext cx="439102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🏃 </a:t>
            </a:r>
            <a:r>
              <a:rPr lang="zh-CN" sz="900" b="1">
                <a:solidFill>
                  <a:srgbClr val="475569"/>
                </a:solidFill>
                <a:latin typeface="Microsoft YaHei"/>
                <a:ea typeface="Microsoft YaHei"/>
              </a:rPr>
              <a:t>现场直击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：趣味运动会火热开展，亲子接力、敏捷跳跃点燃全场，让运动汗水替代屏幕蓝光。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5686425" y="1638300"/>
            <a:ext cx="5972175" cy="866775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5686425" y="1638300"/>
            <a:ext cx="5972175" cy="866775"/>
          </a:xfrm>
          <a:custGeom>
            <a:pathLst>
              <a:path w="627" h="9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7"/>
                </a:lnTo>
                <a:cubicBezTo>
                  <a:pt x="4" y="89"/>
                  <a:pt x="5" y="91"/>
                  <a:pt x="7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857875" y="1771650"/>
            <a:ext cx="559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1.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低门槛趣味运动矩阵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降低参与门槛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857875" y="1981200"/>
            <a:ext cx="55911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定制“敏捷梯跳跃、跳绳接力、趣味投壶、亲子障碍跑”等趣味项目，不设复杂器械门槛，人人可参与、人人能出汗。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686425" y="2600325"/>
            <a:ext cx="5972175" cy="866775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5686425" y="2600325"/>
            <a:ext cx="5972175" cy="866775"/>
          </a:xfrm>
          <a:custGeom>
            <a:pathLst>
              <a:path w="627" h="9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7"/>
                </a:lnTo>
                <a:cubicBezTo>
                  <a:pt x="4" y="89"/>
                  <a:pt x="5" y="91"/>
                  <a:pt x="7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284C7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857875" y="2733675"/>
            <a:ext cx="559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2.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亲子协同与团队竞争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重塑真实社交乐趣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857875" y="2943225"/>
            <a:ext cx="55911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推行“小手拉大手”亲子协作积分制，用奔跑竞技的欢笑声取代虚拟世界的点赞，修复因屏幕疏离的家庭亲情。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5686425" y="3562350"/>
            <a:ext cx="5972175" cy="866775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5686425" y="3562350"/>
            <a:ext cx="5972175" cy="866775"/>
          </a:xfrm>
          <a:custGeom>
            <a:pathLst>
              <a:path w="627" h="9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7"/>
                </a:lnTo>
                <a:cubicBezTo>
                  <a:pt x="4" y="89"/>
                  <a:pt x="5" y="91"/>
                  <a:pt x="7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857875" y="3695700"/>
            <a:ext cx="559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3.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每日运动打卡激励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沉淀长效习惯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857875" y="3905250"/>
            <a:ext cx="55911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现场发放《童健韶华每日运动打卡卡》，设定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11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天周期连续打卡徽章激励，推动运动从“单次活动”变为“终身习惯”。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71500" y="6343650"/>
            <a:ext cx="11049000" cy="257175"/>
          </a:xfrm>
          <a:custGeom>
            <a:pathLst>
              <a:path w="1160" h="2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童健韶华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青少年体质提升与数字赋能行动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34" name="" descr="&lt;Slide style={{&#10;    width: 1280,&#10;    height: 720,&#10;    background: '#F8FAFC',&#10;    padding: '20px 50px',&#10;    display: 'flex',&#10;    flexDirection: 'column',&#10;    justifyContent: 'space-between'&#10;}}&gt;&#10;    {/* A区：标题栏 */}&#10;    &lt;Box style={{ flexDirection: 'row', justifyContent: 'space-between', alignItems: 'center' }}&gt;&#10;        &lt;Box style={{ flexDirection: 'column', gap: 2 }}&gt;&#10;            &lt;Text style={{ fontSize: 26, fontWeight: 'bold', color: '#1E3A8A' }}&gt;&#10;                数智赋能篇 · 自研AI工具矩阵：科技普惠长效护航&#10;            &lt;/Text&gt;&#10;            &lt;Text style={{ fontSize: 13, color: '#64748B' }}&gt;&#10;                篇章三 · 自主研发轻量化 PWA 小程序 · 突破时空限制的健康私教&#10;            &lt;/Text&gt;&#10;        &lt;/Box&gt;&#10;        &lt;Box style={{ background: '#EFF6FF', padding: '4px 12px', borderRadius: 6, border: '1px solid #3B82F6' }}&gt;&#10;            &lt;Text style={{ fontSize: 12, color: '#1D4ED8', fontWeight: 'bold' }}&gt;&#10;                🌟 核心亮点 · 数字化赋能&#10;            &lt;/Text&gt;&#10;        &lt;/Box&gt;&#10;    &lt;/Box&gt;&#10;&#10;    {/* B区：主视觉大图 */}&#10;    &lt;Box style={{&#10;        background: '#FFFFFF',&#10;        borderRadius: 10,&#10;        padding: '8px',&#10;        border: '1px solid #CBD5E1',&#10;        boxShadow: '0 4px 12px rgba(0,0,0,0.05)',&#10;        flexDirection: 'column',&#10;        alignItems: 'center'&#10;    }}&gt;&#10;        &lt;Image&#10;            src=&quot;assets/PPT展示_双应用合一_4x3.png&quot;&#10;            style={{&#10;                width: 1100,&#10;                height: 560,&#10;                borderRadius: 6,&#10;                objectFit: 'contain'&#10;            }}&#10;        /&gt;&#10;    &lt;/Box&gt;&#10;&#10;    {/* C区：页脚 */}&#10;    &lt;Box style={{ flexDirection: 'row', justifyContent: 'space-between', alignItems: 'center', borderTop: '1px solid #E2E8F0', paddingTop: 8 }}&gt;&#10;        &lt;Text style={{ fontSize: 12, color: '#94A3B8' }}&gt;童健韶华 · 青少年体质提升与数字赋能行动（自研 PWA 轻量矩阵）&lt;/Text&gt;&#10;        &lt;Text style={{ fontSize: 12, color: '#94A3B8' }}&gt;07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76250" y="190500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8A"/>
                </a:solidFill>
                <a:latin typeface="Microsoft YaHei"/>
                <a:ea typeface="Microsoft YaHei"/>
              </a:rPr>
              <a:t>数智赋能篇</a:t>
            </a:r>
            <a:r>
              <a:rPr lang="en-US" sz="1950" b="1">
                <a:solidFill>
                  <a:srgbClr val="1E3A8A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1E3A8A"/>
                </a:solidFill>
                <a:latin typeface="Microsoft YaHei"/>
                <a:ea typeface="Microsoft YaHei"/>
              </a:rPr>
              <a:t>自研</a:t>
            </a:r>
            <a:r>
              <a:rPr lang="en-US" sz="1950" b="1">
                <a:solidFill>
                  <a:srgbClr val="1E3A8A"/>
                </a:solidFill>
                <a:latin typeface="Microsoft YaHei"/>
                <a:ea typeface="Microsoft YaHei"/>
              </a:rPr>
              <a:t>AI</a:t>
            </a:r>
            <a:r>
              <a:rPr lang="zh-CN" sz="1950" b="1">
                <a:solidFill>
                  <a:srgbClr val="1E3A8A"/>
                </a:solidFill>
                <a:latin typeface="Microsoft YaHei"/>
                <a:ea typeface="Microsoft YaHei"/>
              </a:rPr>
              <a:t>工具矩阵：科技普惠长效护航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76250" y="514350"/>
            <a:ext cx="548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篇章三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自主研发轻量化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PWA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小程序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突破时空限制的健康私教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10144125" y="323850"/>
            <a:ext cx="1571625" cy="219075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0258425" y="361950"/>
            <a:ext cx="1343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D4ED8"/>
                </a:solidFill>
                <a:latin typeface="Microsoft YaHei"/>
                <a:ea typeface="Microsoft YaHei"/>
              </a:rPr>
              <a:t>🌟 </a:t>
            </a:r>
            <a:r>
              <a:rPr lang="zh-CN" sz="900" b="1">
                <a:solidFill>
                  <a:srgbClr val="1D4ED8"/>
                </a:solidFill>
                <a:latin typeface="Microsoft YaHei"/>
                <a:ea typeface="Microsoft YaHei"/>
              </a:rPr>
              <a:t>核心亮点</a:t>
            </a:r>
            <a:r>
              <a:rPr lang="en-US" sz="900" b="1">
                <a:solidFill>
                  <a:srgbClr val="1D4ED8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1D4ED8"/>
                </a:solidFill>
                <a:latin typeface="Microsoft YaHei"/>
                <a:ea typeface="Microsoft YaHei"/>
              </a:rPr>
              <a:t>数字化赋能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476250" y="809625"/>
            <a:ext cx="11239500" cy="5486400"/>
          </a:xfrm>
          <a:prstGeom prst="roundRect">
            <a:avLst>
              <a:gd name="adj" fmla="val 17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14300" dist="3810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pic>
        <p:nvPicPr>
          <p:cNvPr id="241" name=""/>
          <p:cNvPicPr>
            <a:picLocks noChangeAspect="1"/>
          </p:cNvPicPr>
          <p:nvPr/>
        </p:nvPicPr>
        <p:blipFill>
          <a:blip r:embed="rId1"/>
          <a:srcRect l="0" t="16060" r="0" b="16060"/>
          <a:stretch>
            <a:fillRect/>
          </a:stretch>
        </p:blipFill>
        <p:spPr>
          <a:xfrm rot="0" flipH="0" flipV="0">
            <a:off x="857250" y="885825"/>
            <a:ext cx="10477500" cy="5334000"/>
          </a:xfrm>
          <a:prstGeom prst="roundRect">
            <a:avLst>
              <a:gd name="adj" fmla="val 1071"/>
            </a:avLst>
          </a:prstGeom>
          <a:ln/>
        </p:spPr>
      </p:pic>
      <p:sp>
        <p:nvSpPr>
          <p:cNvPr id="242" name=""/>
          <p:cNvSpPr/>
          <p:nvPr/>
        </p:nvSpPr>
        <p:spPr>
          <a:xfrm rot="0" flipH="0" flipV="0">
            <a:off x="476250" y="6438900"/>
            <a:ext cx="11239500" cy="238125"/>
          </a:xfrm>
          <a:custGeom>
            <a:pathLst>
              <a:path w="1180" h="25">
                <a:moveTo>
                  <a:pt x="0" y="0"/>
                </a:moveTo>
                <a:lnTo>
                  <a:pt x="1180" y="0"/>
                </a:lnTo>
                <a:lnTo>
                  <a:pt x="11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76250" y="6524625"/>
            <a:ext cx="340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童健韶华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青少年体质提升与数字赋能行动（自研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PWA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轻量矩阵）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32522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45" name="" descr="&lt;Slide style={{&#10;    width: 1280,&#10;    height: 720,&#10;    background: '#F8FAFC',&#10;    padding: '28px 60px',&#10;    display: 'flex',&#10;    flexDirection: 'column',&#10;    justifyContent: 'space-between'&#10;}}&gt;&#10;    {/* A区：标题栏 */}&#10;    &lt;Box style={{ flexDirection: 'row', justifyContent: 'space-between', alignItems: 'center' }}&gt;&#10;        &lt;Box style={{ flexDirection: 'column', gap: 2 }}&gt;&#10;            &lt;Text style={{ fontSize: 30, fontWeight: 'bold', color: '#1E3A8A' }}&gt;&#10;                数智赋能篇 · 架构与安全：端侧轻量与隐私合规&#10;            &lt;/Text&gt;&#10;            &lt;Text style={{ fontSize: 13, color: '#64748B' }}&gt;&#10;                篇章三 · 技术创新架构 · 未成年人数据安全与多端极速体验&#10;            &lt;/Text&gt;&#10;        &lt;/Box&gt;&#10;        &lt;Box style={{ background: '#F0FDF4', padding: '5px 12px', borderRadius: 6, border: '1px solid #BBF7D0' }}&gt;&#10;            &lt;Text style={{ fontSize: 12, color: '#15803D', fontWeight: 'bold' }}&gt;&#10;                🔒 隐私安全与技术自主&#10;            &lt;/Text&gt;&#10;        &lt;/Box&gt;&#10;    &lt;/Box&gt;&#10;&#10;    {/* B区：双栏技术特性与架构保障 */}&#10;    &lt;Box style={{ flexDirection: 'row', gap: 20 }}&gt;&#10;        {/* 左卡：极简轻量 PWA 架构 */}&#10;        &lt;Box style={{&#10;            flex: 1,&#10;            background: '#FFFFFF',&#10;            borderRadius: 10,&#10;            padding: '18px 20px',&#10;            border: '1px solid #E2E8F0',&#10;            boxShadow: '0 4px 8px rgba(0,0,0,0.03)',&#10;            flexDirection: 'column',&#10;            gap: 12&#10;        }}&gt;&#10;            &lt;Box style={{ flexDirection: 'row', alignItems: 'center', gap: 8 }}&gt;&#10;                &lt;Box style={{ width: 28, height: 28, borderRadius: 6, background: '#EFF6FF', justifyContent: 'center', alignItems: 'center' }}&gt;&#10;                    &lt;Text style={{ fontSize: 14, fontWeight: 'bold', color: '#1D4ED8' }}&gt;⚡&lt;/Text&gt;&#10;                &lt;/Box&gt;&#10;                &lt;Text style={{ fontSize: 17, fontWeight: 'bold', color: '#0F172A' }}&gt;&#10;                    极简轻量 PWA 架构&#10;                &lt;/Text&gt;&#10;            &lt;/Box&gt;&#10;&#10;            &lt;Box style={{ background: '#F8FAFC', padding: '10px 12px', borderRadius: 6 }}&gt;&#10;                &lt;Text style={{ fontSize: 13, fontWeight: 'bold', color: '#334155' }}&gt;零门槛 · 免安装跨平台运行&lt;/Text&gt;&#10;                &lt;Text style={{ fontSize: 12, color: '#64748B', marginTop: 2, lineHeight: 1.4 }}&gt;&#10;                    基于现代 PWA 标准构建，微信、浏览器扫码即开；支持一键添加至手机桌面，体验媲美原生应用。&#10;                &lt;/Text&gt;&#10;            &lt;/Box&gt;&#10;&#10;            &lt;Box style={{ background: '#F8FAFC', padding: '10px 12px', borderRadius: 6 }}&gt;&#10;                &lt;Text style={{ fontSize: 13, fontWeight: 'bold', color: '#334155' }}&gt;离线缓存 · 弱网秒级加载&lt;/Text&gt;&#10;                &lt;Text style={{ fontSize: 12, color: '#64748B', marginTop: 2, lineHeight: 1.4 }}&gt;&#10;                    搭载 Service Worker 离线缓存静态资源与运动指南，在社区地下室或偏远户外均可秒开查看动作要领。&#10;                &lt;/Text&gt;&#10;            &lt;/Box&gt;&#10;        &lt;/Box&gt;&#10;&#10;        {/* 右卡：端侧安全与防越狱机制 */}&#10;        &lt;Box style={{&#10;            flex: 1,&#10;            background: '#FFFFFF',&#10;            borderRadius: 10,&#10;            padding: '18px 20px',&#10;            border: '1px solid #E2E8F0',&#10;            boxShadow: '0 4px 8px rgba(0,0,0,0.03)',&#10;            flexDirection: 'column',&#10;            gap: 12&#10;        }}&gt;&#10;            &lt;Box style={{ flexDirection: 'row', alignItems: 'center', gap: 8 }}&gt;&#10;                &lt;Box style={{ width: 28, height: 28, borderRadius: 6, background: '#ECFDF5', justifyContent: 'center', alignItems: 'center' }}&gt;&#10;                    &lt;Text style={{ fontSize: 14, fontWeight: 'bold', color: '#059669' }}&gt;🛡️&lt;/Text&gt;&#10;                &lt;/Box&gt;&#10;                &lt;Text style={{ fontSize: 17, fontWeight: 'bold', color: '#0F172A' }}&gt;&#10;                    三层安全与隐私合规&#10;                &lt;/Text&gt;&#10;            &lt;/Box&gt;&#10;&#10;            &lt;Box style={{ background: '#F8FAFC', padding: '10px 12px', borderRadius: 6 }}&gt;&#10;                &lt;Text style={{ fontSize: 13, fontWeight: 'bold', color: '#334155' }}&gt;数据端侧存储 · 零隐私上云&lt;/Text&gt;&#10;                &lt;Text style={{ fontSize: 12, color: '#64748B', marginTop: 2, lineHeight: 1.4 }}&gt;&#10;                    儿童身高体重、日常打卡均存放在手机 localStorage 中，不设中心化数据库，杜绝敏感健康隐私泄露。&#10;                &lt;/Text&gt;&#10;            &lt;/Box&gt;&#10;&#10;            &lt;Box style={{ background: '#F8FAFC', padding: '10px 12px', borderRadius: 6 }}&gt;&#10;                &lt;Text style={{ fontSize: 13, fontWeight: 'bold', color: '#334155' }}&gt;三层防越狱 · 严守健康边界&lt;/Text&gt;&#10;                &lt;Text style={{ fontSize: 12, color: '#64748B', marginTop: 2, lineHeight: 1.4 }}&gt;&#10;                    前端关键词拦截 + System Prompt 最高优先级约束 + 响应侧泄露兜底过滤，确保 AI 回答严格局限于健康与运动。&#10;                &lt;/Text&gt;&#10;            &lt;/Box&gt;&#10;        &lt;/Box&gt;&#10;    &lt;/Box&gt;&#10;&#10;    {/* C区：页脚 */}&#10;    &lt;Box style={{ flexDirection: 'row', justifyContent: 'space-between', alignItems: 'center', borderTop: '1px solid #E2E8F0', paddingTop: 10 }}&gt;&#10;        &lt;Text style={{ fontSize: 12, color: '#94A3B8' }}&gt;童健韶华 · 青少年体质提升与数字赋能行动&lt;/Text&gt;&#10;        &lt;Text style={{ fontSize: 12, color: '#94A3B8' }}&gt;08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6019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数智赋能篇</a:t>
            </a:r>
            <a:r>
              <a:rPr lang="en-US" sz="2250" b="1">
                <a:solidFill>
                  <a:srgbClr val="1E3A8A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架构与安全：端侧轻量与隐私合规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601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篇章三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技术创新架构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未成年人数据安全与多端极速体验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10163175" y="409575"/>
            <a:ext cx="1457325" cy="238125"/>
          </a:xfrm>
          <a:prstGeom prst="roundRect">
            <a:avLst>
              <a:gd name="adj" fmla="val 24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0277475" y="457200"/>
            <a:ext cx="1228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5803D"/>
                </a:solidFill>
                <a:latin typeface="Microsoft YaHei"/>
                <a:ea typeface="Microsoft YaHei"/>
              </a:rPr>
              <a:t>🔒 </a:t>
            </a:r>
            <a:r>
              <a:rPr lang="zh-CN" sz="900" b="1">
                <a:solidFill>
                  <a:srgbClr val="15803D"/>
                </a:solidFill>
                <a:latin typeface="Microsoft YaHei"/>
                <a:ea typeface="Microsoft YaHei"/>
              </a:rPr>
              <a:t>隐私安全与技术自主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571500" y="2390775"/>
            <a:ext cx="5429250" cy="2343150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762000" y="256222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00100" y="2619375"/>
            <a:ext cx="19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</a:rPr>
              <a:t>⚡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104900" y="2600325"/>
            <a:ext cx="1476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极简轻量</a:t>
            </a: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 PWA </a:t>
            </a: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762000" y="2943225"/>
            <a:ext cx="5048250" cy="752475"/>
          </a:xfrm>
          <a:prstGeom prst="roundRect">
            <a:avLst>
              <a:gd name="adj" fmla="val 759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76300" y="3038475"/>
            <a:ext cx="4819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34155"/>
                </a:solidFill>
                <a:latin typeface="Microsoft YaHei"/>
                <a:ea typeface="Microsoft YaHei"/>
              </a:rPr>
              <a:t>零门槛</a:t>
            </a:r>
            <a:r>
              <a:rPr lang="en-US" sz="975" b="1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334155"/>
                </a:solidFill>
                <a:latin typeface="Microsoft YaHei"/>
                <a:ea typeface="Microsoft YaHei"/>
              </a:rPr>
              <a:t>免安装跨平台运行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76300" y="3209925"/>
            <a:ext cx="48196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基于现代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PWA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标准构建，微信、浏览器扫码即开；支持一键添加至手机桌面，体验媲美原生应用。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762000" y="3810000"/>
            <a:ext cx="5048250" cy="752475"/>
          </a:xfrm>
          <a:prstGeom prst="roundRect">
            <a:avLst>
              <a:gd name="adj" fmla="val 759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76300" y="3905250"/>
            <a:ext cx="4819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34155"/>
                </a:solidFill>
                <a:latin typeface="Microsoft YaHei"/>
                <a:ea typeface="Microsoft YaHei"/>
              </a:rPr>
              <a:t>离线缓存</a:t>
            </a:r>
            <a:r>
              <a:rPr lang="en-US" sz="975" b="1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334155"/>
                </a:solidFill>
                <a:latin typeface="Microsoft YaHei"/>
                <a:ea typeface="Microsoft YaHei"/>
              </a:rPr>
              <a:t>弱网秒级加载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76300" y="4076700"/>
            <a:ext cx="48196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搭载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Service Worker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离线缓存静态资源与运动指南，在社区地下室或偏远户外均可秒开查看动作要领。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191250" y="2390775"/>
            <a:ext cx="5429250" cy="2343150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6381750" y="256222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419850" y="2619375"/>
            <a:ext cx="19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059669"/>
                </a:solidFill>
                <a:latin typeface="Microsoft YaHei"/>
                <a:ea typeface="Microsoft YaHei"/>
              </a:rPr>
              <a:t>🛡️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724650" y="26003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三层安全与隐私合规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381750" y="2943225"/>
            <a:ext cx="5048250" cy="752475"/>
          </a:xfrm>
          <a:prstGeom prst="roundRect">
            <a:avLst>
              <a:gd name="adj" fmla="val 759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496050" y="3038475"/>
            <a:ext cx="4819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34155"/>
                </a:solidFill>
                <a:latin typeface="Microsoft YaHei"/>
                <a:ea typeface="Microsoft YaHei"/>
              </a:rPr>
              <a:t>数据端侧存储</a:t>
            </a:r>
            <a:r>
              <a:rPr lang="en-US" sz="975" b="1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334155"/>
                </a:solidFill>
                <a:latin typeface="Microsoft YaHei"/>
                <a:ea typeface="Microsoft YaHei"/>
              </a:rPr>
              <a:t>零隐私上云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496050" y="3209925"/>
            <a:ext cx="48196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儿童身高体重、日常打卡均存放在手机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localStorage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中，不设中心化数据库，杜绝敏感健康隐私泄露。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381750" y="3810000"/>
            <a:ext cx="5048250" cy="752475"/>
          </a:xfrm>
          <a:prstGeom prst="roundRect">
            <a:avLst>
              <a:gd name="adj" fmla="val 759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496050" y="3905250"/>
            <a:ext cx="4819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34155"/>
                </a:solidFill>
                <a:latin typeface="Microsoft YaHei"/>
                <a:ea typeface="Microsoft YaHei"/>
              </a:rPr>
              <a:t>三层防越狱</a:t>
            </a:r>
            <a:r>
              <a:rPr lang="en-US" sz="975" b="1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334155"/>
                </a:solidFill>
                <a:latin typeface="Microsoft YaHei"/>
                <a:ea typeface="Microsoft YaHei"/>
              </a:rPr>
              <a:t>严守健康边界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496050" y="4076700"/>
            <a:ext cx="48196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前端关键词拦截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System Prompt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最高优先级约束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响应侧泄露兜底过滤，确保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回答严格局限于健康与运动。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571500" y="6343650"/>
            <a:ext cx="11049000" cy="257175"/>
          </a:xfrm>
          <a:custGeom>
            <a:pathLst>
              <a:path w="1160" h="2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童健韶华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青少年体质提升与数字赋能行动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74" name="" descr="&lt;Slide style={{&#10;    width: 1280,&#10;    height: 720,&#10;    background: '#F8FAFC',&#10;    padding: '28px 60px',&#10;    display: 'flex',&#10;    flexDirection: 'column',&#10;    justifyContent: 'space-between'&#10;}}&gt;&#10;    {/* A区：标题栏 */}&#10;    &lt;Box style={{ flexDirection: 'row', justifyContent: 'space-between', alignItems: 'center' }}&gt;&#10;        &lt;Box style={{ flexDirection: 'column', gap: 2 }}&gt;&#10;            &lt;Text style={{ fontSize: 30, fontWeight: 'bold', color: '#1E3A8A' }}&gt;&#10;                实践成效篇 · 多维指标落地：数据印证实践硕果&#10;            &lt;/Text&gt;&#10;            &lt;Text style={{ fontSize: 13, color: '#64748B' }}&gt;&#10;                篇章四 · 扎实落地数据 · 行为转变与社会声誉&#10;            &lt;/Text&gt;&#10;        &lt;/Box&gt;&#10;        &lt;Box style={{ background: '#FFFBEB', padding: '5px 12px', borderRadius: 6, border: '1px solid #FDE68A' }}&gt;&#10;            &lt;Text style={{ fontSize: 12, color: '#D97706', fontWeight: 'bold' }}&gt;&#10;                🏆 成果量化展示&#10;            &lt;/Text&gt;&#10;        &lt;/Box&gt;&#10;    &lt;/Box&gt;&#10;&#10;    {/* B区：4大巨型数字高光卡片 (2x2 网格) */}&#10;    &lt;Box style={{ flexDirection: 'column', gap: 14 }}&gt;&#10;        &lt;Box style={{ flexDirection: 'row', gap: 16 }}&gt;&#10;            {/* 指标 1 */}&#10;            &lt;Box style={{&#10;                flex: 1,&#10;                background: 'linear-gradient(135deg, #EFF6FF 0%, #FFFFFF 100%)',&#10;                borderRadius: 10,&#10;                padding: '16px 20px',&#10;                border: '1px solid #BFDBFE',&#10;                boxShadow: '0 4px 10px rgba(0,0,0,0.03)',&#10;                flexDirection: 'column',&#10;                gap: 4&#10;            }}&gt;&#10;                &lt;Box style={{ flexDirection: 'row', alignItems: 'baseline', gap: 6 }}&gt;&#10;                    &lt;Text style={{ fontSize: 38, fontWeight: 'bold', color: '#1D4ED8', letterSpacing: -1 }}&gt;500+&lt;/Text&gt;&#10;                    &lt;Text style={{ fontSize: 14, fontWeight: 'bold', color: '#0284C7' }}&gt;人次&lt;/Text&gt;&#10;                &lt;/Box&gt;&#10;                &lt;Text style={{ fontSize: 15, fontWeight: 'bold', color: '#0F172A' }}&gt;线下宣讲与运动覆盖广度&lt;/Text&gt;&#10;                &lt;Text style={{ fontSize: 12, color: '#64748B', lineHeight: 1.4 }}&gt;&#10;                    在威海市环翠区多个社区累计开展 10+ 场次网络素养课堂与趣味运动会，精准覆盖服务儿童及家长。&#10;                &lt;/Text&gt;&#10;            &lt;/Box&gt;&#10;&#10;            {/* 指标 2 */}&#10;            &lt;Box style={{&#10;                flex: 1,&#10;                background: 'linear-gradient(135deg, #ECFDF5 0%, #FFFFFF 100%)',&#10;                borderRadius: 10,&#10;                padding: '16px 20px',&#10;                border: '1px solid #A7F3D0',&#10;                boxShadow: '0 4px 10px rgba(0,0,0,0.03)',&#10;                flexDirection: 'column',&#10;                gap: 4&#10;            }}&gt;&#10;                &lt;Box style={{ flexDirection: 'row', alignItems: 'baseline', gap: 6 }}&gt;&#10;                    &lt;Text style={{ fontSize: 38, fontWeight: 'bold', color: '#059669', letterSpacing: -1 }}&gt;↓ 45%&lt;/Text&gt;&#10;                    &lt;Text style={{ fontSize: 14, fontWeight: 'bold', color: '#10B981' }}&gt;降幅&lt;/Text&gt;&#10;                &lt;/Box&gt;&#10;                &lt;Text style={{ fontSize: 15, fontWeight: 'bold', color: '#0F172A' }}&gt;娱乐性屏幕使用时间显著压缩&lt;/Text&gt;&#10;                &lt;Text style={{ fontSize: 12, color: '#64748B', lineHeight: 1.4 }}&gt;&#10;                    实践跟踪与家长回访显示，参与儿童日均娱乐性屏幕使用时间由 3.5h 降至 1.9h，户外运动频次提升超 80%。&#10;                &lt;/Text&gt;&#10;            &lt;/Box&gt;&#10;        &lt;/Box&gt;&#10;&#10;        &lt;Box style={{ flexDirection: 'row', gap: 16 }}&gt;&#10;            {/* 指标 3 */}&#10;            &lt;Box style={{&#10;                flex: 1,&#10;                background: 'linear-gradient(135deg, #FFF7ED 0%, #FFFFFF 100%)',&#10;                borderRadius: 10,&#10;                padding: '16px 20px',&#10;                border: '1px solid #FED7AA',&#10;                boxShadow: '0 4px 10px rgba(0,0,0,0.03)',&#10;                flexDirection: 'column',&#10;                gap: 4&#10;            }}&gt;&#10;                &lt;Box style={{ flexDirection: 'row', alignItems: 'baseline', gap: 6 }}&gt;&#10;                    &lt;Text style={{ fontSize: 38, fontWeight: 'bold', color: '#EA580C', letterSpacing: -1 }}&gt;1000+&lt;/Text&gt;&#10;                    &lt;Text style={{ fontSize: 14, fontWeight: 'bold', color: '#F97316' }}&gt;次&lt;/Text&gt;&#10;                &lt;/Box&gt;&#10;                &lt;Text style={{ fontSize: 15, fontWeight: 'bold', color: '#0F172A' }}&gt;自研 AI 工具长效生成陪伴&lt;/Text&gt;&#10;                &lt;Text style={{ fontSize: 12, color: '#64748B', lineHeight: 1.4 }}&gt;&#10;                    AI体质检测与健身教练上线后，为参与儿童动态生成千人千面体质雷达与运动方案达 1000 余份。&#10;                &lt;/Text&gt;&#10;            &lt;/Box&gt;&#10;&#10;            {/* 指标 4 */}&#10;            &lt;Box style={{&#10;                flex: 1,&#10;                background: 'linear-gradient(135deg, #FAF5FF 0%, #FFFFFF 100%)',&#10;                borderRadius: 10,&#10;                padding: '16px 20px',&#10;                border: '1px solid #E9D5FF',&#10;                boxShadow: '0 4px 10px rgba(0,0,0,0.03)',&#10;                flexDirection: 'column',&#10;                gap: 4&#10;            }}&gt;&#10;                &lt;Box style={{ flexDirection: 'row', alignItems: 'baseline', gap: 6 }}&gt;&#10;                    &lt;Text style={{ fontSize: 38, fontWeight: 'bold', color: '#7E22CE', letterSpacing: -1 }}&gt;100%&lt;/Text&gt;&#10;                    &lt;Text style={{ fontSize: 14, fontWeight: 'bold', color: '#A855F7' }}&gt;好评&lt;/Text&gt;&#10;                &lt;/Box&gt;&#10;                &lt;Text style={{ fontSize: 15, fontWeight: 'bold', color: '#0F172A' }}&gt;家长满意度与社区高度赞誉&lt;/Text&gt;&#10;                &lt;Text style={{ fontSize: 12, color: '#64748B', lineHeight: 1.4 }}&gt;&#10;                    满意度调研达到 100%，被环翠区多个基层社区评为“最具实效与创新力的青少年暑期品牌项目”。&#10;                &lt;/Text&gt;&#10;            &lt;/Box&gt;&#10;        &lt;/Box&gt;&#10;    &lt;/Box&gt;&#10;&#10;    {/* C区：页脚 */}&#10;    &lt;Box style={{ flexDirection: 'row', justifyContent: 'space-between', alignItems: 'center', borderTop: '1px solid #E2E8F0', paddingTop: 10 }}&gt;&#10;        &lt;Text style={{ fontSize: 12, color: '#94A3B8' }}&gt;童健韶华 · 青少年体质提升与数字赋能行动&lt;/Text&gt;&#10;        &lt;Text style={{ fontSize: 12, color: '#94A3B8' }}&gt;09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6019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实践成效篇</a:t>
            </a:r>
            <a:r>
              <a:rPr lang="en-US" sz="2250" b="1">
                <a:solidFill>
                  <a:srgbClr val="1E3A8A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多维指标落地：数据印证实践硕果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601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篇章四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扎实落地数据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行为转变与社会声誉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10506075" y="409575"/>
            <a:ext cx="1114425" cy="238125"/>
          </a:xfrm>
          <a:prstGeom prst="roundRect">
            <a:avLst>
              <a:gd name="adj" fmla="val 24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620375" y="457200"/>
            <a:ext cx="885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D97706"/>
                </a:solidFill>
                <a:latin typeface="Microsoft YaHei"/>
                <a:ea typeface="Microsoft YaHei"/>
              </a:rPr>
              <a:t>🏆 </a:t>
            </a:r>
            <a:r>
              <a:rPr lang="zh-CN" sz="900" b="1">
                <a:solidFill>
                  <a:srgbClr val="D97706"/>
                </a:solidFill>
                <a:latin typeface="Microsoft YaHei"/>
                <a:ea typeface="Microsoft YaHei"/>
              </a:rPr>
              <a:t>成果量化展示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571500" y="2209800"/>
            <a:ext cx="5448300" cy="1381125"/>
          </a:xfrm>
          <a:prstGeom prst="roundRect">
            <a:avLst>
              <a:gd name="adj" fmla="val 6897"/>
            </a:avLst>
          </a:prstGeom>
          <a:gradFill>
            <a:gsLst>
              <a:gs pos="0">
                <a:srgbClr val="EFF6FF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BFDBFE"/>
            </a:solidFill>
            <a:prstDash val="solid"/>
          </a:ln>
          <a:effectLst>
            <a:outerShdw blurRad="9525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62000" y="2362200"/>
            <a:ext cx="9144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1D4ED8"/>
                </a:solidFill>
                <a:latin typeface="Microsoft YaHei"/>
                <a:ea typeface="Microsoft YaHei"/>
              </a:rPr>
              <a:t>500+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733550" y="2362200"/>
            <a:ext cx="2667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284C7"/>
                </a:solidFill>
                <a:latin typeface="Microsoft YaHei"/>
                <a:ea typeface="Microsoft YaHei"/>
              </a:rPr>
              <a:t>人次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62000" y="2838450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线下宣讲与运动覆盖广度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62000" y="3048000"/>
            <a:ext cx="50673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在威海市环翠区多个社区累计开展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10+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场次网络素养课堂与趣味运动会，精准覆盖服务儿童及家长。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172200" y="2209800"/>
            <a:ext cx="5448300" cy="1381125"/>
          </a:xfrm>
          <a:prstGeom prst="roundRect">
            <a:avLst>
              <a:gd name="adj" fmla="val 6897"/>
            </a:avLst>
          </a:prstGeom>
          <a:gradFill>
            <a:gsLst>
              <a:gs pos="0">
                <a:srgbClr val="ECFDF5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A7F3D0"/>
            </a:solidFill>
            <a:prstDash val="solid"/>
          </a:ln>
          <a:effectLst>
            <a:outerShdw blurRad="9525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362700" y="2362200"/>
            <a:ext cx="10287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059669"/>
                </a:solidFill>
                <a:latin typeface="Microsoft YaHei"/>
                <a:ea typeface="Microsoft YaHei"/>
              </a:rPr>
              <a:t>↓ 45%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448550" y="2362200"/>
            <a:ext cx="2667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0B981"/>
                </a:solidFill>
                <a:latin typeface="Microsoft YaHei"/>
                <a:ea typeface="Microsoft YaHei"/>
              </a:rPr>
              <a:t>降幅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362700" y="2838450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娱乐性屏幕使用时间显著压缩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362700" y="3048000"/>
            <a:ext cx="50673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实践跟踪与家长回访显示，参与儿童日均娱乐性屏幕使用时间由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3.5h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降至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1.9h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，户外运动频次提升超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80%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571500" y="3724275"/>
            <a:ext cx="5448300" cy="1190625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FFF7ED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FED7AA"/>
            </a:solidFill>
            <a:prstDash val="solid"/>
          </a:ln>
          <a:effectLst>
            <a:outerShdw blurRad="9525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62000" y="3876675"/>
            <a:ext cx="11239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EA580C"/>
                </a:solidFill>
                <a:latin typeface="Microsoft YaHei"/>
                <a:ea typeface="Microsoft YaHei"/>
              </a:rPr>
              <a:t>1000+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943100" y="3876675"/>
            <a:ext cx="1333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97316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62000" y="4352925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自研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AI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工具长效生成陪伴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62000" y="45624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体质检测与健身教练上线后，为参与儿童动态生成千人千面体质雷达与运动方案达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1000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余份。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172200" y="3724275"/>
            <a:ext cx="5448300" cy="1190625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FAF5FF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E9D5FF"/>
            </a:solidFill>
            <a:prstDash val="solid"/>
          </a:ln>
          <a:effectLst>
            <a:outerShdw blurRad="9525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362700" y="3876675"/>
            <a:ext cx="9715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7E22CE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7391400" y="3876675"/>
            <a:ext cx="2667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A855F7"/>
                </a:solidFill>
                <a:latin typeface="Microsoft YaHei"/>
                <a:ea typeface="Microsoft YaHei"/>
              </a:rPr>
              <a:t>好评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362700" y="4352925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家长满意度与社区高度赞誉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362700" y="45624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满意度调研达到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100%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，被环翠区多个基层社区评为“最具实效与创新力的青少年暑期品牌项目”。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571500" y="6343650"/>
            <a:ext cx="11049000" cy="257175"/>
          </a:xfrm>
          <a:custGeom>
            <a:pathLst>
              <a:path w="1160" h="2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童健韶华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青少年体质提升与数字赋能行动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9" name="" descr="&lt;Slide style={{&#10;    width: 1280,&#10;    height: 720,&#10;    background: '#F8FAFC',&#10;    padding: '28px 60px',&#10;    display: 'flex',&#10;    flexDirection: 'column',&#10;    justifyContent: 'space-between'&#10;}}&gt;&#10;    {/* A区：标题栏 */}&#10;    &lt;Box style={{ flexDirection: 'row', justifyContent: 'space-between', alignItems: 'center' }}&gt;&#10;        &lt;Box style={{ flexDirection: 'column', gap: 2 }}&gt;&#10;            &lt;Text style={{ fontSize: 30, fontWeight: 'bold', color: '#1E3A8A' }}&gt;&#10;                长效资产篇 · 开源共享沉淀：打造可复制推广样板&#10;            &lt;/Text&gt;&#10;            &lt;Text style={{ fontSize: 13, color: '#64748B' }}&gt;&#10;                篇章四 · 志愿服务成果转化 · 开源精神与社会价值延续&#10;            &lt;/Text&gt;&#10;        &lt;/Box&gt;&#10;        &lt;Box style={{ background: '#F0FDF4', padding: '5px 12px', borderRadius: 6, border: '1px solid #BBF7D0' }}&gt;&#10;            &lt;Text style={{ fontSize: 12, color: '#15803D', fontWeight: 'bold' }}&gt;&#10;                💡 长效机制与资产沉淀&#10;            &lt;/Text&gt;&#10;        &lt;/Box&gt;&#10;    &lt;/Box&gt;&#10;&#10;    {/* B区：三大长效支撑卡片 */}&#10;    &lt;Box style={{ flexDirection: 'row', gap: 16 }}&gt;&#10;        {/* 资产 1 */}&#10;        &lt;Box style={{&#10;            flex: 1,&#10;            background: '#FFFFFF',&#10;            borderRadius: 10,&#10;            padding: '18px',&#10;            border: '1px solid #E2E8F0',&#10;            boxShadow: '0 4px 8px rgba(0,0,0,0.03)',&#10;            flexDirection: 'column',&#10;            gap: 8&#10;        }}&gt;&#10;            &lt;Box style={{ width: 36, height: 36, borderRadius: 8, background: '#EFF6FF', justifyContent: 'center', alignItems: 'center' }}&gt;&#10;                &lt;Text style={{ fontSize: 18 }}&gt;💻&lt;/Text&gt;&#10;            &lt;/Box&gt;&#10;            &lt;Text style={{ fontSize: 16, fontWeight: 'bold', color: '#0F172A' }}&gt;&#10;                全栈代码完全开源&#10;            &lt;/Text&gt;&#10;            &lt;Box style={{ background: '#F1F5F9', padding: '4px 8px', borderRadius: 4 }}&gt;&#10;                &lt;Text style={{ fontSize: 11, color: '#475569', fontWeight: 'bold' }}&gt;GitHub: tongjian-shaohua&lt;/Text&gt;&#10;            &lt;/Box&gt;&#10;            &lt;Text style={{ fontSize: 12, color: '#64748B', lineHeight: 1.4 }}&gt;&#10;                遵守志愿服务非商用开源协议，将 88+ 前端与 AI 架构文件完全开源，供全国高校支教与公益团队免费复用。&#10;            &lt;/Text&gt;&#10;        &lt;/Box&gt;&#10;&#10;        {/* 资产 2 */}&#10;        &lt;Box style={{&#10;            flex: 1,&#10;            background: '#FFFFFF',&#10;            borderRadius: 10,&#10;            padding: '18px',&#10;            border: '1px solid #E2E8F0',&#10;            boxShadow: '0 4px 8px rgba(0,0,0,0.03)',&#10;            flexDirection: 'column',&#10;            gap: 8&#10;        }}&gt;&#10;            &lt;Box style={{ width: 36, height: 36, borderRadius: 8, background: '#FFF7ED', justifyContent: 'center', alignItems: 'center' }}&gt;&#10;                &lt;Text style={{ fontSize: 18 }}&gt;📖&lt;/Text&gt;&#10;            &lt;/Box&gt;&#10;            &lt;Text style={{ fontSize: 16, fontWeight: 'bold', color: '#0F172A' }}&gt;&#10;                标准化落地操作手册&#10;            &lt;/Text&gt;&#10;            &lt;Box style={{ background: '#FFEDD5', padding: '4px 8px', borderRadius: 4 }}&gt;&#10;                &lt;Text style={{ fontSize: 11, color: '#C2410C', fontWeight: 'bold' }}&gt;《社区以动代屏实施指南》&lt;/Text&gt;&#10;            &lt;/Box&gt;&#10;            &lt;Text style={{ fontSize: 12, color: '#64748B', lineHeight: 1.4 }}&gt;&#10;                提炼《网络素养教案》、《趣味运动会道具与规则清单》、《家庭公约范本》，实现“新手志愿者拿来即用”。&#10;            &lt;/Text&gt;&#10;        &lt;/Box&gt;&#10;&#10;        {/* 资产 3 */}&#10;        &lt;Box style={{&#10;            flex: 1,&#10;            background: '#FFFFFF',&#10;            borderRadius: 10,&#10;            padding: '18px',&#10;            border: '1px solid #E2E8F0',&#10;            boxShadow: '0 4px 8px rgba(0,0,0,0.03)',&#10;            flexDirection: 'column',&#10;            gap: 8&#10;        }}&gt;&#10;            &lt;Box style={{ width: 36, height: 36, borderRadius: 8, background: '#ECFDF5', justifyContent: 'center', alignItems: 'center' }}&gt;&#10;                &lt;Text style={{ fontSize: 18 }}&gt;🤝&lt;/Text&gt;&#10;            &lt;/Box&gt;&#10;            &lt;Text style={{ fontSize: 16, fontWeight: 'bold', color: '#0F172A' }}&gt;&#10;                校地共建常态化联络&#10;            &lt;/Text&gt;&#10;            &lt;Box style={{ background: '#DCFCE7', padding: '4px 8px', borderRadius: 4 }}&gt;&#10;                &lt;Text style={{ fontSize: 11, color: '#15803D', fontWeight: 'bold' }}&gt;高校智力 + 基层阵地&lt;/Text&gt;&#10;            &lt;/Box&gt;&#10;            &lt;Text style={{ fontSize: 12, color: '#64748B', lineHeight: 1.4 }}&gt;&#10;                与环翠区多个基层社区建立常态化志愿服务驿站，设立“童健韶华云端信箱”，寒暑假轮换常态化跟进。&#10;            &lt;/Text&gt;&#10;        &lt;/Box&gt;&#10;    &lt;/Box&gt;&#10;&#10;    {/* C区：页脚 */}&#10;    &lt;Box style={{ flexDirection: 'row', justifyContent: 'space-between', alignItems: 'center', borderTop: '1px solid #E2E8F0', paddingTop: 10 }}&gt;&#10;        &lt;Text style={{ fontSize: 12, color: '#94A3B8' }}&gt;童健韶华 · 青少年体质提升与数字赋能行动&lt;/Text&gt;&#10;        &lt;Text style={{ fontSize: 12, color: '#94A3B8' }}&gt;10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63055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长效资产篇</a:t>
            </a:r>
            <a:r>
              <a:rPr lang="en-US" sz="2250" b="1">
                <a:solidFill>
                  <a:srgbClr val="1E3A8A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开源共享沉淀：打造可复制推广样板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630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篇章四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志愿服务成果转化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开源精神与社会价值延续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10163175" y="409575"/>
            <a:ext cx="1457325" cy="238125"/>
          </a:xfrm>
          <a:prstGeom prst="roundRect">
            <a:avLst>
              <a:gd name="adj" fmla="val 24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277475" y="457200"/>
            <a:ext cx="1228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5803D"/>
                </a:solidFill>
                <a:latin typeface="Microsoft YaHei"/>
                <a:ea typeface="Microsoft YaHei"/>
              </a:rPr>
              <a:t>💡 </a:t>
            </a:r>
            <a:r>
              <a:rPr lang="zh-CN" sz="900" b="1">
                <a:solidFill>
                  <a:srgbClr val="15803D"/>
                </a:solidFill>
                <a:latin typeface="Microsoft YaHei"/>
                <a:ea typeface="Microsoft YaHei"/>
              </a:rPr>
              <a:t>长效机制与资产沉淀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71500" y="2714625"/>
            <a:ext cx="3581400" cy="1704975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742950" y="28860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00100" y="2952750"/>
            <a:ext cx="238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chemeClr val="tx1"/>
                </a:solidFill>
                <a:latin typeface="Microsoft YaHei"/>
                <a:ea typeface="Microsoft YaHei"/>
              </a:rPr>
              <a:t>💻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42950" y="3305175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全栈代码完全开源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742950" y="3571875"/>
            <a:ext cx="3238500" cy="20955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19150" y="3609975"/>
            <a:ext cx="3086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475569"/>
                </a:solidFill>
                <a:latin typeface="Microsoft YaHei"/>
                <a:ea typeface="Microsoft YaHei"/>
              </a:rPr>
              <a:t>GitHub: tongjian-shaohua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42950" y="3857625"/>
            <a:ext cx="32385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遵守志愿服务非商用开源协议，将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88+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前端与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架构文件完全开源，供全国高校支教与公益团队免费复用。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305300" y="2714625"/>
            <a:ext cx="3581400" cy="1704975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4476750" y="28860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533900" y="2952750"/>
            <a:ext cx="238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chemeClr val="tx1"/>
                </a:solidFill>
                <a:latin typeface="Microsoft YaHei"/>
                <a:ea typeface="Microsoft YaHei"/>
              </a:rPr>
              <a:t>📖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76750" y="3305175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标准化落地操作手册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476750" y="3571875"/>
            <a:ext cx="3238500" cy="209550"/>
          </a:xfrm>
          <a:prstGeom prst="roundRect">
            <a:avLst>
              <a:gd name="adj" fmla="val 18182"/>
            </a:avLst>
          </a:prstGeom>
          <a:solidFill>
            <a:srgbClr val="FFEDD5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552950" y="3609975"/>
            <a:ext cx="3086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2410C"/>
                </a:solidFill>
                <a:latin typeface="Microsoft YaHei"/>
                <a:ea typeface="Microsoft YaHei"/>
              </a:rPr>
              <a:t>《社区以动代屏实施指南》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476750" y="3857625"/>
            <a:ext cx="32385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提炼《网络素养教案》、《趣味运动会道具与规则清单》、《家庭公约范本》，实现“新手志愿者拿来即用”。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039100" y="2714625"/>
            <a:ext cx="3581400" cy="1704975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8210550" y="28860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267700" y="2952750"/>
            <a:ext cx="238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chemeClr val="tx1"/>
                </a:solidFill>
                <a:latin typeface="Microsoft YaHei"/>
                <a:ea typeface="Microsoft YaHei"/>
              </a:rPr>
              <a:t>🤝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210550" y="3305175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校地共建常态化联络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210550" y="3571875"/>
            <a:ext cx="3238500" cy="20955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286750" y="3609975"/>
            <a:ext cx="3086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15803D"/>
                </a:solidFill>
                <a:latin typeface="Microsoft YaHei"/>
                <a:ea typeface="Microsoft YaHei"/>
              </a:rPr>
              <a:t>高校智力</a:t>
            </a:r>
            <a:r>
              <a:rPr lang="en-US" sz="825" b="1">
                <a:solidFill>
                  <a:srgbClr val="15803D"/>
                </a:solidFill>
                <a:latin typeface="Microsoft YaHei"/>
                <a:ea typeface="Microsoft YaHei"/>
              </a:rPr>
              <a:t> + </a:t>
            </a:r>
            <a:r>
              <a:rPr lang="zh-CN" sz="825" b="1">
                <a:solidFill>
                  <a:srgbClr val="15803D"/>
                </a:solidFill>
                <a:latin typeface="Microsoft YaHei"/>
                <a:ea typeface="Microsoft YaHei"/>
              </a:rPr>
              <a:t>基层阵地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210550" y="3857625"/>
            <a:ext cx="32385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与环翠区多个基层社区建立常态化志愿服务驿站，设立“童健韶华云端信箱”，寒暑假轮换常态化跟进。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1500" y="6343650"/>
            <a:ext cx="11049000" cy="257175"/>
          </a:xfrm>
          <a:custGeom>
            <a:pathLst>
              <a:path w="1160" h="2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童健韶华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青少年体质提升与数字赋能行动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9" name="" descr="&lt;Slide style={{&#10;    width: 1280,&#10;    height: 720,&#10;    background: '#F8FAFC',&#10;    padding: '28px 60px',&#10;    display: 'flex',&#10;    flexDirection: 'column',&#10;    justifyContent: 'space-between'&#10;}}&gt;&#10;    {/* A区：标题栏 */}&#10;    &lt;Box style={{ flexDirection: 'row', justifyContent: 'space-between', alignItems: 'center' }}&gt;&#10;        &lt;Box style={{ flexDirection: 'column', gap: 2 }}&gt;&#10;            &lt;Text style={{ fontSize: 30, fontWeight: 'bold', color: '#1E3A8A' }}&gt;&#10;                总结展望 · 聚微光筑童心：让青春在基层绽放&#10;            &lt;/Text&gt;&#10;            &lt;Text style={{ fontSize: 13, color: '#64748B' }}&gt;&#10;                篇章四 · 未来规划与示范辐射 · 青年担当与健康中国&#10;            &lt;/Text&gt;&#10;        &lt;/Box&gt;&#10;        &lt;Box style={{ background: '#EFF6FF', padding: '5px 12px', borderRadius: 6, border: '1px solid #BFDBFE' }}&gt;&#10;            &lt;Text style={{ fontSize: 12, color: '#1D4ED8', fontWeight: 'bold' }}&gt;&#10;                🚀 发展蓝图&#10;            &lt;/Text&gt;&#10;        &lt;/Box&gt;&#10;    &lt;/Box&gt;&#10;&#10;    {/* B区：阶梯式发展规划 */}&#10;    &lt;Box style={{ flexDirection: 'row', gap: 16 }}&gt;&#10;        {/* 阶段 1 */}&#10;        &lt;Box style={{&#10;            flex: 1,&#10;            background: '#FFFFFF',&#10;            borderRadius: 10,&#10;            padding: '20px 18px',&#10;            border: '1px solid #E2E8F0',&#10;            boxShadow: '0 4px 8px rgba(0,0,0,0.03)',&#10;            flexDirection: 'column',&#10;            gap: 10&#10;        }}&gt;&#10;            &lt;Box style={{ background: '#E0F2FE', padding: '4px 10px', borderRadius: 4, width: 75 }}&gt;&#10;                &lt;Text style={{ fontSize: 12, color: '#0369A1', fontWeight: 'bold' }}&gt;近期 · 深耕&lt;/Text&gt;&#10;            &lt;/Box&gt;&#10;            &lt;Text style={{ fontSize: 17, fontWeight: 'bold', color: '#0F172A' }}&gt;&#10;                模型微调与端侧迭代&#10;            &lt;/Text&gt;&#10;            &lt;Text style={{ fontSize: 12, color: '#64748B', lineHeight: 1.5 }}&gt;&#10;                • 优化 AI 健身教练的动作库与少儿骨骼发育适配算法&lt;br /&gt;&#10;                • 完善离线打卡徽章与家长端体质周报生成能力&#10;            &lt;/Text&gt;&#10;        &lt;/Box&gt;&#10;&#10;        {/* 阶段 2 */}&#10;        &lt;Box style={{&#10;            flex: 1,&#10;            background: '#FFFFFF',&#10;            borderRadius: 10,&#10;            padding: '20px 18px',&#10;            border: '1px solid #E2E8F0',&#10;            boxShadow: '0 4px 8px rgba(0,0,0,0.03)',&#10;            flexDirection: 'column',&#10;            gap: 10&#10;        }}&gt;&#10;            &lt;Box style={{ background: '#FEF3C7', padding: '4px 10px', borderRadius: 4, width: 75 }}&gt;&#10;                &lt;Text style={{ fontSize: 12, color: '#92400E', fontWeight: 'bold' }}&gt;中期 · 扩面&lt;/Text&gt;&#10;            &lt;/Box&gt;&#10;            &lt;Text style={{ fontSize: 17, fontWeight: 'bold', color: '#0F172A' }}&gt;&#10;                全省高校志愿联盟辐射&#10;            &lt;/Text&gt;&#10;            &lt;Text style={{ fontSize: 12, color: '#64748B', lineHeight: 1.5 }}&gt;&#10;                • 依托开源项目向全省乃至全国更多高校志愿队伍推广&lt;br /&gt;&#10;                • 联合基层团委打造“百个社区以动代屏示范驿站”&#10;            &lt;/Text&gt;&#10;        &lt;/Box&gt;&#10;&#10;        {/* 阶段 3 */}&#10;        &lt;Box style={{&#10;            flex: 1,&#10;            background: '#FFFFFF',&#10;            borderRadius: 10,&#10;            padding: '20px 18px',&#10;            border: '1px solid #E2E8F0',&#10;            boxShadow: '0 4px 8px rgba(0,0,0,0.03)',&#10;            flexDirection: 'column',&#10;            gap: 10&#10;        }}&gt;&#10;            &lt;Box style={{ background: '#DCFCE7', padding: '4px 10px', borderRadius: 4, width: 75 }}&gt;&#10;                &lt;Text style={{ fontSize: 12, color: '#166534', fontWeight: 'bold' }}&gt;远期 · 融合&lt;/Text&gt;&#10;            &lt;/Box&gt;&#10;            &lt;Text style={{ fontSize: 17, fontWeight: 'bold', color: '#0F172A' }}&gt;&#10;                体教融合智慧生态&#10;            &lt;/Text&gt;&#10;            &lt;Text style={{ fontSize: 12, color: '#64748B', lineHeight: 1.5 }}&gt;&#10;                • 接入地方全民健身大数据平台，赋能基层公共卫生体系&lt;br /&gt;&#10;                • 持续贡献青年智慧，书写“健康中国”青春答卷&#10;            &lt;/Text&gt;&#10;        &lt;/Box&gt;&#10;    &lt;/Box&gt;&#10;&#10;    {/* C区：页脚 */}&#10;    &lt;Box style={{ flexDirection: 'row', justifyContent: 'space-between', alignItems: 'center', borderTop: '1px solid #E2E8F0', paddingTop: 10 }}&gt;&#10;        &lt;Text style={{ fontSize: 12, color: '#94A3B8' }}&gt;童健韶华 · 青少年体质提升与数字赋能行动&lt;/Text&gt;&#10;        &lt;Text style={{ fontSize: 12, color: '#94A3B8' }}&gt;11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57340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总结展望</a:t>
            </a:r>
            <a:r>
              <a:rPr lang="en-US" sz="2250" b="1">
                <a:solidFill>
                  <a:srgbClr val="1E3A8A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1E3A8A"/>
                </a:solidFill>
                <a:latin typeface="Microsoft YaHei"/>
                <a:ea typeface="Microsoft YaHei"/>
              </a:rPr>
              <a:t>聚微光筑童心：让青春在基层绽放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1500" y="628650"/>
            <a:ext cx="573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篇章四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未来规划与示范辐射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青年担当与健康中国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10734675" y="409575"/>
            <a:ext cx="885825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0848975" y="457200"/>
            <a:ext cx="657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D4ED8"/>
                </a:solidFill>
                <a:latin typeface="Microsoft YaHei"/>
                <a:ea typeface="Microsoft YaHei"/>
              </a:rPr>
              <a:t>🚀 </a:t>
            </a:r>
            <a:r>
              <a:rPr lang="zh-CN" sz="900" b="1">
                <a:solidFill>
                  <a:srgbClr val="1D4ED8"/>
                </a:solidFill>
                <a:latin typeface="Microsoft YaHei"/>
                <a:ea typeface="Microsoft YaHei"/>
              </a:rPr>
              <a:t>发展蓝图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571500" y="2790825"/>
            <a:ext cx="3581400" cy="154305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742950" y="2981325"/>
            <a:ext cx="714375" cy="352425"/>
          </a:xfrm>
          <a:prstGeom prst="roundRect">
            <a:avLst>
              <a:gd name="adj" fmla="val 10811"/>
            </a:avLst>
          </a:prstGeom>
          <a:solidFill>
            <a:srgbClr val="E0F2FE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38200" y="3019425"/>
            <a:ext cx="5238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369A1"/>
                </a:solidFill>
                <a:latin typeface="Microsoft YaHei"/>
                <a:ea typeface="Microsoft YaHei"/>
              </a:rPr>
              <a:t>近期</a:t>
            </a:r>
            <a:r>
              <a:rPr lang="en-US" sz="900" b="1">
                <a:solidFill>
                  <a:srgbClr val="0369A1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0369A1"/>
                </a:solidFill>
                <a:latin typeface="Microsoft YaHei"/>
                <a:ea typeface="Microsoft YaHei"/>
              </a:rPr>
              <a:t>深耕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2950" y="34290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模型微调与端侧迭代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42950" y="3724275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优化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健身教练的动作库与少儿骨骼发育适配算法</a:t>
            </a:r>
            <a:endParaRPr/>
          </a:p>
          <a:p>
            <a:pPr>
              <a:lnSpc>
                <a:spcPct val="15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完善离线打卡徽章与家长端体质周报生成能力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305300" y="2790825"/>
            <a:ext cx="3581400" cy="154305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4476750" y="2981325"/>
            <a:ext cx="714375" cy="352425"/>
          </a:xfrm>
          <a:prstGeom prst="roundRect">
            <a:avLst>
              <a:gd name="adj" fmla="val 10811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572000" y="3019425"/>
            <a:ext cx="5238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92400E"/>
                </a:solidFill>
                <a:latin typeface="Microsoft YaHei"/>
                <a:ea typeface="Microsoft YaHei"/>
              </a:rPr>
              <a:t>中期</a:t>
            </a:r>
            <a:r>
              <a:rPr lang="en-US" sz="900" b="1">
                <a:solidFill>
                  <a:srgbClr val="92400E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92400E"/>
                </a:solidFill>
                <a:latin typeface="Microsoft YaHei"/>
                <a:ea typeface="Microsoft YaHei"/>
              </a:rPr>
              <a:t>扩面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476750" y="34290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全省高校志愿联盟辐射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476750" y="3724275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依托开源项目向全省乃至全国更多高校志愿队伍推广</a:t>
            </a:r>
            <a:endParaRPr/>
          </a:p>
          <a:p>
            <a:pPr>
              <a:lnSpc>
                <a:spcPct val="15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联合基层团委打造“百个社区以动代屏示范驿站”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8039100" y="2790825"/>
            <a:ext cx="3581400" cy="154305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8210550" y="2981325"/>
            <a:ext cx="714375" cy="352425"/>
          </a:xfrm>
          <a:prstGeom prst="roundRect">
            <a:avLst>
              <a:gd name="adj" fmla="val 10811"/>
            </a:avLst>
          </a:prstGeom>
          <a:solidFill>
            <a:srgbClr val="DCFCE7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305800" y="3019425"/>
            <a:ext cx="5238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66534"/>
                </a:solidFill>
                <a:latin typeface="Microsoft YaHei"/>
                <a:ea typeface="Microsoft YaHei"/>
              </a:rPr>
              <a:t>远期</a:t>
            </a:r>
            <a:r>
              <a:rPr lang="en-US" sz="900" b="1">
                <a:solidFill>
                  <a:srgbClr val="166534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166534"/>
                </a:solidFill>
                <a:latin typeface="Microsoft YaHei"/>
                <a:ea typeface="Microsoft YaHei"/>
              </a:rPr>
              <a:t>融合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210550" y="34290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体教融合智慧生态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210550" y="3724275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接入地方全民健身大数据平台，赋能基层公共卫生体系</a:t>
            </a:r>
            <a:endParaRPr/>
          </a:p>
          <a:p>
            <a:pPr>
              <a:lnSpc>
                <a:spcPct val="15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•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持续贡献青年智慧，书写“健康中国”青春答卷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571500" y="6343650"/>
            <a:ext cx="11049000" cy="257175"/>
          </a:xfrm>
          <a:custGeom>
            <a:pathLst>
              <a:path w="1160" h="27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童健韶华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青少年体质提升与数字赋能行动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3" name="" descr="&lt;Slide style={{&#10;    width: 1280,&#10;    height: 720,&#10;    background: 'linear-gradient(135deg, #0F172A 0%, #1E3A8A 50%, #0369A1 100%)',&#10;    padding: '36px 60px',&#10;    display: 'flex',&#10;    flexDirection: 'column',&#10;    justifyContent: 'space-between',&#10;    alignItems: 'center'&#10;}}&gt;&#10;    {/* 顶部胶囊 */}&#10;    &lt;Box style={{&#10;        background: 'rgba(255, 255, 255, 0.15)',&#10;        padding: '6px 18px',&#10;        borderRadius: 20,&#10;        border: '1px solid rgba(255, 255, 255, 0.25)'&#10;    }}&gt;&#10;        &lt;Text style={{ fontSize: 14, color: '#BAE6FD', fontWeight: 'bold', letterSpacing: 1 }}&gt;&#10;            笃行致远 · 科技向善 · 青春筑梦&#10;        &lt;/Text&gt;&#10;    &lt;/Box&gt;&#10;&#10;    {/* 中部核心金句 */}&#10;    &lt;Box style={{ flexDirection: 'column', alignItems: 'center', gap: 14 }}&gt;&#10;        &lt;Text style={{&#10;            fontSize: 46,&#10;            fontWeight: 'bold',&#10;            color: '#FFFFFF',&#10;            letterSpacing: 2&#10;        }}&gt;&#10;            聚微光 筑童心 · 为童健韶华&#10;        &lt;/Text&gt;&#10;        &lt;Text style={{&#10;            fontSize: 20,&#10;            color: '#38BDF8',&#10;            letterSpacing: 1&#10;        }}&gt;&#10;            以青春之力护航少年健康 · 用数字智能赋能基层治理&#10;        &lt;/Text&gt;&#10;        &lt;Text style={{&#10;            fontSize: 26,&#10;            fontWeight: 'bold',&#10;            color: '#FFFFFF',&#10;            marginTop: 12&#10;        }}&gt;&#10;            恳请各位评委与老师批评指正！&#10;        &lt;/Text&gt;&#10;    &lt;/Box&gt;&#10;&#10;    {/* 底部团队与致谢信息 */}&#10;    &lt;Box style={{&#10;        flexDirection: 'column',&#10;        alignItems: 'center',&#10;        gap: 6,&#10;        borderTop: '1px solid rgba(255, 255, 255, 0.2)',&#10;        width: '100%',&#10;        paddingTop: 16&#10;    }}&gt;&#10;        &lt;Text style={{ fontSize: 15, color: '#FFFFFF', fontWeight: 'bold' }}&gt;&#10;            汇报团队：“童健韶华”志愿服务队（队长：阎宗宁）&#10;        &lt;/Text&gt;&#10;        &lt;Text style={{ fontSize: 13, color: '#94A3B8' }}&gt;&#10;            指导教师：董怡静、张红朗 | 团队成员：郭亦彤、李响、陈虹宇、祝鸣轩、段文烁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50000">
                <a:srgbClr val="1E3A8A"/>
              </a:gs>
              <a:gs pos="100000">
                <a:srgbClr val="0369A1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4905375" y="342900"/>
            <a:ext cx="2390775" cy="276225"/>
          </a:xfrm>
          <a:prstGeom prst="roundRect">
            <a:avLst>
              <a:gd name="adj" fmla="val 6896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076825" y="400050"/>
            <a:ext cx="2047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BAE6FD"/>
                </a:solidFill>
                <a:latin typeface="Microsoft YaHei"/>
                <a:ea typeface="Microsoft YaHei"/>
              </a:rPr>
              <a:t>笃行致远</a:t>
            </a:r>
            <a:r>
              <a:rPr lang="en-US" sz="1050" b="1" spc="75">
                <a:solidFill>
                  <a:srgbClr val="BAE6FD"/>
                </a:solidFill>
                <a:latin typeface="Microsoft YaHei"/>
                <a:ea typeface="Microsoft YaHei"/>
              </a:rPr>
              <a:t> · </a:t>
            </a:r>
            <a:r>
              <a:rPr lang="zh-CN" sz="1050" b="1" spc="75">
                <a:solidFill>
                  <a:srgbClr val="BAE6FD"/>
                </a:solidFill>
                <a:latin typeface="Microsoft YaHei"/>
                <a:ea typeface="Microsoft YaHei"/>
              </a:rPr>
              <a:t>科技向善</a:t>
            </a:r>
            <a:r>
              <a:rPr lang="en-US" sz="1050" b="1" spc="75">
                <a:solidFill>
                  <a:srgbClr val="BAE6FD"/>
                </a:solidFill>
                <a:latin typeface="Microsoft YaHei"/>
                <a:ea typeface="Microsoft YaHei"/>
              </a:rPr>
              <a:t> · </a:t>
            </a:r>
            <a:r>
              <a:rPr lang="zh-CN" sz="1050" b="1" spc="75">
                <a:solidFill>
                  <a:srgbClr val="BAE6FD"/>
                </a:solidFill>
                <a:latin typeface="Microsoft YaHei"/>
                <a:ea typeface="Microsoft YaHei"/>
              </a:rPr>
              <a:t>青春筑梦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248025" y="2571750"/>
            <a:ext cx="56959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FFFFFF"/>
                </a:solidFill>
                <a:latin typeface="Microsoft YaHei"/>
                <a:ea typeface="Microsoft YaHei"/>
              </a:rPr>
              <a:t>聚微光</a:t>
            </a:r>
            <a:r>
              <a:rPr lang="en-US" sz="3450" b="1" spc="15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3450" b="1" spc="150">
                <a:solidFill>
                  <a:srgbClr val="FFFFFF"/>
                </a:solidFill>
                <a:latin typeface="Microsoft YaHei"/>
                <a:ea typeface="Microsoft YaHei"/>
              </a:rPr>
              <a:t>筑童心</a:t>
            </a:r>
            <a:r>
              <a:rPr lang="en-US" sz="3450" b="1" spc="15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3450" b="1" spc="150">
                <a:solidFill>
                  <a:srgbClr val="FFFFFF"/>
                </a:solidFill>
                <a:latin typeface="Microsoft YaHei"/>
                <a:ea typeface="Microsoft YaHei"/>
              </a:rPr>
              <a:t>为童健韶华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00475" y="3238500"/>
            <a:ext cx="4591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38BDF8"/>
                </a:solidFill>
                <a:latin typeface="Microsoft YaHei"/>
                <a:ea typeface="Microsoft YaHei"/>
              </a:rPr>
              <a:t>以青春之力护航少年健康</a:t>
            </a:r>
            <a:r>
              <a:rPr lang="en-US" sz="1500" spc="75">
                <a:solidFill>
                  <a:srgbClr val="38BDF8"/>
                </a:solidFill>
                <a:latin typeface="Microsoft YaHei"/>
                <a:ea typeface="Microsoft YaHei"/>
              </a:rPr>
              <a:t> · </a:t>
            </a:r>
            <a:r>
              <a:rPr lang="zh-CN" sz="1500" spc="75">
                <a:solidFill>
                  <a:srgbClr val="38BDF8"/>
                </a:solidFill>
                <a:latin typeface="Microsoft YaHei"/>
                <a:ea typeface="Microsoft YaHei"/>
              </a:rPr>
              <a:t>用数字智能赋能基层治理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362450" y="3714750"/>
            <a:ext cx="3467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恳请各位评委与老师批评指正！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571500" y="5972175"/>
            <a:ext cx="11049000" cy="552450"/>
          </a:xfrm>
          <a:custGeom>
            <a:pathLst>
              <a:path w="1160" h="5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381500" y="613410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汇报团队：“童健韶华”志愿服务队（队长：阎宗宁）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876675" y="6362700"/>
            <a:ext cx="444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指导教师：董怡静、张红朗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|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团队成员：郭亦彤、李响、陈虹宇、祝鸣轩、段文烁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2026-08-28T21:23:57Z</dcterms:created>
  <dcterms:modified xsi:type="dcterms:W3CDTF">2026-08-28T21:23:57Z</dcterms:modified>
</cp:coreProperties>
</file>