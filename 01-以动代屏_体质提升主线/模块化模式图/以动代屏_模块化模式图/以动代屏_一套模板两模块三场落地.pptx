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</p:sldIdLst>
  <p:sldSz cx="12192000" cy="6858000"/>
  <p:notesSz cx="6858000" cy="12192000"/>
  <p:custDataLst>
    <p:tags r:id="rId8"/>
  </p:custData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gs" Target="tags/tag1.xml"/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/>
          </p:nvPr>
        </p:nvSpPr>
        <p:spPr>
          <a:xfrm>
            <a:off x="662016" y="5242000"/>
            <a:ext cx="5296132" cy="4288909"/>
          </a:xfrm>
          <a:prstGeom prst="rect">
            <a:avLst/>
          </a:prstGeom>
        </p:spPr>
        <p:txBody>
          <a:bodyPr/>
          <a:p>
            <a:r>
              <a:rPr lang="zh-CN" altLang="en-US"/>
              <a:t>那么，我们具体是怎么做的？请看这一页，我用三句话概括我们的打法：一套模板、两个模块、三场落地。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第一，一套模板。 我们把实践沉淀为标准化服务模板——问卷调研、模块组合、现场实施、效果追踪，形成可复制的完整流程，进入任何社区都不必从零开始。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第二，两个模块。 宣讲模块，用案例警示、家庭用网公约和护眼问答，解决"为什么沉迷"；运动会模块，用低门槛趣味项目、亲子接力与十一天打卡，解决"放下屏幕做什么"。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之所以拆成独立模块，目的只有一个——让它适应更多不同的社区。各社区的场地条件、孩子年龄、可调配资源都不一样，写死的做法换个社区就跑不动；做成模块，社区就能按实际有计划地选择、组合、部署。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第三，三场落地。 在黄家皂幼儿园，室内场地、孩子年龄小，我们单上宣讲，四十分钟短课时适配；在蓝海社区，户外开阔，我们完整开展趣味运动会；在西海社区，条件综合，我们把宣讲、运动与反诈组合，一次进场、多重成效。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所以，这不是一场固定活动，而是一套可拆、可组、可复制的服务模板——同一支队伍，因点施策、各展所长；用宣讲点亮认知，用运动强健体魄。</a:t>
            </a:r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style={{&#10;    width: 1280,&#10;    height: 720,&#10;    background: '#F8FAFC',&#10;    padding: '24px 56px',&#10;    display: 'flex',&#10;    flexDirection: 'column',&#10;    gap: 10&#10;}}&gt;&#10;    {/* A区 · 标题栏 */}&#10;    &lt;Box style={{ flexDirection: 'row', justifyContent: 'space-between', alignItems: 'flex-end' }}&gt;&#10;        &lt;Box style={{ flexDirection: 'column', gap: 3 }}&gt;&#10;            &lt;Text style={{ fontSize: 34, fontWeight: 'bold', color: '#1E3A8A', letterSpacing: 1 }}&gt;&#10;                一套模板 · 两个模块 · 三场落地&#10;            &lt;/Text&gt;&#10;            &lt;Text style={{ fontSize: 14, color: '#64748B' }}&gt;&#10;                以宣讲与运动守护青少年健康成长 ｜ &quot;童健韶华&quot;志愿服务队 · 2026 暑期&quot;三下乡&quot;社会实践&#10;            &lt;/Text&gt;&#10;        &lt;/Box&gt;&#10;        &lt;Box style={{ background: '#EFF6FF', padding: '5px 14px', borderRadius: 6, border: '1px solid #BFDBFE' }}&gt;&#10;            &lt;Text style={{ fontSize: 12, color: '#1D4ED8', fontWeight: 'bold' }}&gt;可拆 · 可组 · 可复制&lt;/Text&gt;&#10;        &lt;/Box&gt;&#10;    &lt;/Box&gt;&#10;&#10;    {/* 第 1 层 · 一套模板 */}&#10;    &lt;Box style={{&#10;        background: 'linear-gradient(135deg, #1E3A8A 0%, #0284C7 100%)',&#10;        borderRadius: 10,&#10;        padding: '12px 22px',&#10;        flexDirection: 'row',&#10;        alignItems: 'center',&#10;        gap: 18,&#10;        boxShadow: '0 4px 12px rgba(2, 132, 199, 0.18)'&#10;    }}&gt;&#10;        &lt;Box style={{ background: 'rgba(255, 255, 255, 0.2)', padding: '5px 12px', borderRadius: 6 }}&gt;&#10;            &lt;Text style={{ fontSize: 15, color: '#FFFFFF', fontWeight: 'bold' }}&gt;01 ｜ 一套模板&lt;/Text&gt;&#10;        &lt;/Box&gt;&#10;        &lt;Text style={{ fontSize: 14, color: '#E0F2FE', lineHeight: 1.5, flex: 1 }}&gt;&#10;            以青少年体质提升为目标的&lt;strong&gt;标准化服务模板&lt;/strong&gt;：问卷调研 → 模块组合 → 现场实施 → 效果追踪，&#10;            把零散的活动沉淀为可复制的完整流程，进入任何社区都无需从零开始。&#10;        &lt;/Text&gt;&#10;    &lt;/Box&gt;&#10;&#10;    {/* 第 2 层 · 两个模块 */}&#10;    &lt;Box style={{ flexDirection: 'column', gap: 6 }}&gt;&#10;        &lt;Box style={{ flexDirection: 'row', alignItems: 'center', gap: 8 }}&gt;&#10;            &lt;Box style={{ background: '#0284C7', padding: '3px 10px', borderRadius: 4 }}&gt;&#10;                &lt;Text style={{ fontSize: 13, color: '#FFFFFF', fontWeight: 'bold' }}&gt;02 ｜ 两个模块&lt;/Text&gt;&#10;            &lt;/Box&gt;&#10;            &lt;Text style={{ fontSize: 12, color: '#64748B' }}&gt;按社区条件自由组合，单上或叠加均可&lt;/Text&gt;&#10;        &lt;/Box&gt;&#10;&#10;        &lt;Box style={{ flexDirection: 'row', gap: 14 }}&gt;&#10;            {/* 模块一：宣讲 */}&#10;            &lt;Box style={{&#10;                flex: 1,&#10;                background: '#FFFFFF',&#10;                borderRadius: 8,&#10;                padding: '12px 16px',&#10;                border: '1px solid #E2E8F0',&#10;                borderLeft: '4px solid #0284C7',&#10;                flexDirection: 'column',&#10;                gap: 4&#10;            }}&gt;&#10;                &lt;Box style={{ flexDirection: 'row', alignItems: 'center', gap: 8 }}&gt;&#10;                    &lt;Box style={{ width: 26, height: 26, borderRadius: 6, background: '#EFF6FF', justifyContent: 'center', alignItems: 'center' }}&gt;&#10;                        &lt;Text style={{ fontSize: 13 }}&gt;🎤&lt;/Text&gt;&#10;                    &lt;/Box&gt;&#10;                    &lt;Text style={{ fontSize: 16, fontWeight: 'bold', color: '#0F172A' }}&gt;宣讲模块&lt;/Text&gt;&#10;                    &lt;Text style={{ fontSize: 12, color: '#0284C7', fontWeight: 'bold' }}&gt;网络素养科普宣讲&lt;/Text&gt;&#10;                &lt;/Box&gt;&#10;                &lt;Text style={{ fontSize: 12, color: '#64748B', lineHeight: 1.5 }}&gt;&#10;                    沉迷危害情景警示 · 家庭用网微公约共签 · 护眼知识竞赛抢答&lt;br /&gt;&#10;                    &lt;strong&gt;解决&quot;为什么沉迷&quot;——从认知源头建立数字自律&lt;/strong&gt;&#10;                &lt;/Text&gt;&#10;            &lt;/Box&gt;&#10;&#10;            {/* 模块二：运动会 */}&#10;            &lt;Box style={{&#10;                flex: 1,&#10;                background: '#FFFFFF',&#10;                borderRadius: 8,&#10;                padding: '12px 16px',&#10;                border: '1px solid #E2E8F0',&#10;                borderLeft: '4px solid #F97316',&#10;                flexDirection: 'column',&#10;                gap: 4&#10;            }}&gt;&#10;                &lt;Box style={{ flexDirection: 'row', alignItems: 'center', gap: 8 }}&gt;&#10;                    &lt;Box style={{ width: 26, height: 26, borderRadius: 6, background: '#FFF7ED', justifyContent: 'center', alignItems: 'center' }}&gt;&#10;                        &lt;Text style={{ fontSize: 13 }}&gt;🏃&lt;/Text&gt;&#10;                    &lt;/Box&gt;&#10;                    &lt;Text style={{ fontSize: 16, fontWeight: 'bold', color: '#0F172A' }}&gt;运动会模块&lt;/Text&gt;&#10;                    &lt;Text style={{ fontSize: 12, color: '#C2410C', fontWeight: 'bold' }}&gt;体质提升趣味运动会&lt;/Text&gt;&#10;                &lt;/Box&gt;&#10;                &lt;Text style={{ fontSize: 12, color: '#64748B', lineHeight: 1.5 }}&gt;&#10;                    低门槛趣味项目 · 亲子协作积分接力 · 11 天连续打卡激励&lt;br /&gt;&#10;                    &lt;strong&gt;解决&quot;放下屏幕做什么&quot;——以趣促动完成行为替代&lt;/strong&gt;&#10;                &lt;/Text&gt;&#10;            &lt;/Box&gt;&#10;        &lt;/Box&gt;&#10;    &lt;/Box&gt;&#10;&#10;    {/* 第 3 层 · 三场落地 */}&#10;    &lt;Box style={{ flexDirection: 'column', gap: 6 }}&gt;&#10;        &lt;Box style={{ flexDirection: 'row', alignItems: 'center', gap: 8 }}&gt;&#10;            &lt;Box style={{ background: '#059669', padding: '3px 10px', borderRadius: 4 }}&gt;&#10;                &lt;Text style={{ fontSize: 13, color: '#FFFFFF', fontWeight: 'bold' }}&gt;03 ｜ 三场落地&lt;/Text&gt;&#10;            &lt;/Box&gt;&#10;            &lt;Text style={{ fontSize: 12, color: '#64748B' }}&gt;同一套模板，因点施策，各展所长&lt;/Text&gt;&#10;        &lt;/Box&gt;&#10;&#10;        &lt;Box style={{ flexDirection: 'row', gap: 14 }}&gt;&#10;            {/* 落地 1 */}&#10;            &lt;Box style={{&#10;                flex: 1,&#10;                background: '#FFFFFF',&#10;                borderRadius: 8,&#10;                padding: '10px',&#10;                border: '1px solid #E2E8F0',&#10;                flexDirection: 'column',&#10;                gap: 6&#10;            }}&gt;&#10;                &lt;Image src=&quot;assets/site1.png&quot; style={{ width: '100%', height: 84, borderRadius: 5, objectFit: 'cover' }} /&gt;&#10;                &lt;Box style={{ flexDirection: 'row', alignItems: 'center', gap: 6 }}&gt;&#10;                    &lt;Box style={{ background: '#1E3A8A', padding: '2px 7px', borderRadius: 3 }}&gt;&#10;                        &lt;Text style={{ fontSize: 10, color: '#FFFFFF', fontWeight: 'bold' }}&gt;第 1 场&lt;/Text&gt;&#10;                    &lt;/Box&gt;&#10;                    &lt;Text style={{ fontSize: 14, fontWeight: 'bold', color: '#0F172A' }}&gt;黄家皂幼儿园&lt;/Text&gt;&#10;                &lt;/Box&gt;&#10;                &lt;Box style={{ background: '#EFF6FF', padding: '3px 7px', borderRadius: 3 }}&gt;&#10;                    &lt;Text style={{ fontSize: 10, color: '#0369A1', fontWeight: 'bold' }}&gt;宣讲模块（单模块）&lt;/Text&gt;&#10;                &lt;/Box&gt;&#10;                &lt;Text style={{ fontSize: 11, color: '#64748B', lineHeight: 1.4 }}&gt;&#10;                    室内场地、幼儿年龄，采用 40 分钟短课时精准适配。&#10;                &lt;/Text&gt;&#10;            &lt;/Box&gt;&#10;&#10;            {/* 落地 2 */}&#10;            &lt;Box style={{&#10;                flex: 1,&#10;                background: '#FFFFFF',&#10;                borderRadius: 8,&#10;                padding: '10px',&#10;                border: '1px solid #E2E8F0',&#10;                flexDirection: 'column',&#10;                gap: 6&#10;            }}&gt;&#10;                &lt;Image src=&quot;assets/site2.png&quot; style={{ width: '100%', height: 84, borderRadius: 5, objectFit: 'cover' }} /&gt;&#10;                &lt;Box style={{ flexDirection: 'row', alignItems: 'center', gap: 6 }}&gt;&#10;                    &lt;Box style={{ background: '#0284C7', padding: '2px 7px', borderRadius: 3 }}&gt;&#10;                        &lt;Text style={{ fontSize: 10, color: '#FFFFFF', fontWeight: 'bold' }}&gt;第 2 场&lt;/Text&gt;&#10;                    &lt;/Box&gt;&#10;                    &lt;Text style={{ fontSize: 14, fontWeight: 'bold', color: '#0F172A' }}&gt;蓝海社区&lt;/Text&gt;&#10;                &lt;/Box&gt;&#10;                &lt;Box style={{ background: '#FFF7ED', padding: '3px 7px', borderRadius: 3 }}&gt;&#10;                    &lt;Text style={{ fontSize: 10, color: '#C2410C', fontWeight: 'bold' }}&gt;运动会模块（单模块）&lt;/Text&gt;&#10;                &lt;/Box&gt;&#10;                &lt;Text style={{ fontSize: 11, color: '#64748B', lineHeight: 1.4 }}&gt;&#10;                    户外开阔场地，完整开展趣味运动会与亲子接力。&#10;                &lt;/Text&gt;&#10;            &lt;/Box&gt;&#10;&#10;            {/* 落地 3 */}&#10;            &lt;Box style={{&#10;                flex: 1,&#10;                background: '#FFFFFF',&#10;                borderRadius: 8,&#10;                padding: '10px',&#10;                border: '1px solid #E2E8F0',&#10;                flexDirection: 'column',&#10;                gap: 6&#10;            }}&gt;&#10;                &lt;Image src=&quot;assets/site3.png&quot; style={{ width: '100%', height: 84, borderRadius: 5, objectFit: 'cover' }} /&gt;&#10;                &lt;Box style={{ flexDirection: 'row', alignItems: 'center', gap: 6 }}&gt;&#10;                    &lt;Box style={{ background: '#059669', padding: '2px 7px', borderRadius: 3 }}&gt;&#10;                        &lt;Text style={{ fontSize: 10, color: '#FFFFFF', fontWeight: 'bold' }}&gt;第 3 场&lt;/Text&gt;&#10;                    &lt;/Box&gt;&#10;                    &lt;Text style={{ fontSize: 14, fontWeight: 'bold', color: '#0F172A' }}&gt;西海社区&lt;/Text&gt;&#10;                &lt;/Box&gt;&#10;                &lt;Box style={{ background: '#ECFDF5', padding: '3px 7px', borderRadius: 3 }}&gt;&#10;                    &lt;Text style={{ fontSize: 10, color: '#15803D', fontWeight: 'bold' }}&gt;双模块叠加 + 反诈宣讲&lt;/Text&gt;&#10;                &lt;/Box&gt;&#10;                &lt;Text style={{ fontSize: 11, color: '#64748B', lineHeight: 1.4 }}&gt;&#10;                    室内外分时段切换，多部门协同，一次进场多重成效。&#10;                &lt;/Text&gt;&#10;            &lt;/Box&gt;&#10;        &lt;/Box&gt;&#10;    &lt;/Box&gt;&#10;&#10;    {/* 底部金句条 */}&#10;    &lt;Box style={{&#10;        background: 'linear-gradient(135deg, #EFF6FF 0%, #DBEAFE 100%)',&#10;        borderRadius: 8,&#10;        padding: '11px 22px',&#10;        border: '1px solid #BFDBFE',&#10;        borderLeft: '5px solid #1E3A8A'&#10;    }}&gt;&#10;        &lt;Text style={{ fontSize: 14, color: '#1E3A8A', lineHeight: 1.5 }}&gt;&#10;            一套模板、两个模块、三场落地——&lt;strong&gt;同一支队伍，因点施策、各展所长&lt;/strong&gt;；&#10;            用宣讲点亮认知，用运动强健体魄，这便是我们守护青少年健康成长的方式。&#10;        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</p:spPr>
        <p:txBody>
          <a:bodyPr/>
          <a:p/>
        </p:txBody>
      </p:sp>
      <p:sp>
        <p:nvSpPr>
          <p:cNvPr id="3" name="文本框 2" descr="{&quot;isTemplate&quot;:true,&quot;type&quot;:&quot;text&quot;}"/>
          <p:cNvSpPr txBox="1"/>
          <p:nvPr/>
        </p:nvSpPr>
        <p:spPr>
          <a:xfrm>
            <a:off x="533400" y="228600"/>
            <a:ext cx="5314950" cy="3905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 spc="75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</a:rPr>
              <a:t>一套模板</a:t>
            </a:r>
            <a:r>
              <a:rPr lang="en-US" sz="2550" b="1" spc="75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2550" b="1" spc="75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</a:rPr>
              <a:t>两个模块</a:t>
            </a:r>
            <a:r>
              <a:rPr lang="en-US" sz="2550" b="1" spc="75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2550" b="1" spc="75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</a:rPr>
              <a:t>三场落地</a:t>
            </a:r>
            <a:endParaRPr lang="zh-CN" sz="2550" b="1" spc="75">
              <a:solidFill>
                <a:srgbClr val="1E3A8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 descr="{&quot;isTemplate&quot;:true,&quot;type&quot;:&quot;text&quot;}"/>
          <p:cNvSpPr txBox="1"/>
          <p:nvPr/>
        </p:nvSpPr>
        <p:spPr>
          <a:xfrm>
            <a:off x="533400" y="647700"/>
            <a:ext cx="531495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以宣讲与运动守护青少年健康成长</a:t>
            </a:r>
            <a:r>
              <a:rPr lang="en-US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｜</a:t>
            </a:r>
            <a:r>
              <a:rPr lang="en-US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"</a:t>
            </a: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童健韶华</a:t>
            </a:r>
            <a:r>
              <a:rPr lang="en-US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"</a:t>
            </a: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志愿服务队</a:t>
            </a:r>
            <a:r>
              <a:rPr lang="en-US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· 2026 </a:t>
            </a: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暑期</a:t>
            </a:r>
            <a:r>
              <a:rPr lang="en-US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"</a:t>
            </a: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三下乡</a:t>
            </a:r>
            <a:r>
              <a:rPr lang="en-US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"</a:t>
            </a: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社会实践</a:t>
            </a:r>
            <a:endParaRPr lang="zh-CN" sz="105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圆角矩形 4"/>
          <p:cNvSpPr/>
          <p:nvPr/>
        </p:nvSpPr>
        <p:spPr>
          <a:xfrm>
            <a:off x="10353675" y="571500"/>
            <a:ext cx="1304925" cy="238125"/>
          </a:xfrm>
          <a:prstGeom prst="roundRect">
            <a:avLst>
              <a:gd name="adj" fmla="val 2400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p/>
        </p:txBody>
      </p:sp>
      <p:sp>
        <p:nvSpPr>
          <p:cNvPr id="6" name="文本框 5" descr="{&quot;isTemplate&quot;:true,&quot;type&quot;:&quot;text&quot;}"/>
          <p:cNvSpPr txBox="1"/>
          <p:nvPr/>
        </p:nvSpPr>
        <p:spPr>
          <a:xfrm>
            <a:off x="10487025" y="619125"/>
            <a:ext cx="1038225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1D4ED8"/>
                </a:solidFill>
                <a:latin typeface="微软雅黑" panose="020B0503020204020204" charset="-122"/>
                <a:ea typeface="微软雅黑" panose="020B0503020204020204" charset="-122"/>
              </a:rPr>
              <a:t>可拆</a:t>
            </a:r>
            <a:r>
              <a:rPr lang="en-US" sz="900" b="1">
                <a:solidFill>
                  <a:srgbClr val="1D4ED8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00" b="1">
                <a:solidFill>
                  <a:srgbClr val="1D4ED8"/>
                </a:solidFill>
                <a:latin typeface="微软雅黑" panose="020B0503020204020204" charset="-122"/>
                <a:ea typeface="微软雅黑" panose="020B0503020204020204" charset="-122"/>
              </a:rPr>
              <a:t>可组</a:t>
            </a:r>
            <a:r>
              <a:rPr lang="en-US" sz="900" b="1">
                <a:solidFill>
                  <a:srgbClr val="1D4ED8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00" b="1">
                <a:solidFill>
                  <a:srgbClr val="1D4ED8"/>
                </a:solidFill>
                <a:latin typeface="微软雅黑" panose="020B0503020204020204" charset="-122"/>
                <a:ea typeface="微软雅黑" panose="020B0503020204020204" charset="-122"/>
              </a:rPr>
              <a:t>可复制</a:t>
            </a:r>
            <a:endParaRPr lang="zh-CN" sz="900" b="1">
              <a:solidFill>
                <a:srgbClr val="1D4ED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圆角矩形 6"/>
          <p:cNvSpPr/>
          <p:nvPr/>
        </p:nvSpPr>
        <p:spPr>
          <a:xfrm>
            <a:off x="533400" y="904875"/>
            <a:ext cx="11125200" cy="495300"/>
          </a:xfrm>
          <a:prstGeom prst="roundRect">
            <a:avLst>
              <a:gd name="adj" fmla="val 19231"/>
            </a:avLst>
          </a:prstGeom>
          <a:gradFill>
            <a:gsLst>
              <a:gs pos="0">
                <a:srgbClr val="1E3A8A"/>
              </a:gs>
              <a:gs pos="100000">
                <a:srgbClr val="0284C7"/>
              </a:gs>
            </a:gsLst>
            <a:lin ang="2700000" scaled="1"/>
          </a:gradFill>
          <a:effectLst>
            <a:outerShdw blurRad="114300" dist="38100" dir="5400000">
              <a:srgbClr val="0284C7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8" name="圆角矩形 7"/>
          <p:cNvSpPr/>
          <p:nvPr/>
        </p:nvSpPr>
        <p:spPr>
          <a:xfrm>
            <a:off x="742950" y="1019175"/>
            <a:ext cx="1209675" cy="266700"/>
          </a:xfrm>
          <a:prstGeom prst="roundRect">
            <a:avLst>
              <a:gd name="adj" fmla="val 21429"/>
            </a:avLst>
          </a:prstGeom>
          <a:solidFill>
            <a:srgbClr val="FFFFFF">
              <a:alpha val="20000"/>
            </a:srgbClr>
          </a:solidFill>
        </p:spPr>
        <p:txBody>
          <a:bodyPr/>
          <a:p/>
        </p:txBody>
      </p:sp>
      <p:sp>
        <p:nvSpPr>
          <p:cNvPr id="9" name="文本框 8" descr="{&quot;isTemplate&quot;:true,&quot;type&quot;:&quot;text&quot;}"/>
          <p:cNvSpPr txBox="1"/>
          <p:nvPr/>
        </p:nvSpPr>
        <p:spPr>
          <a:xfrm>
            <a:off x="857250" y="1066800"/>
            <a:ext cx="98107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01 </a:t>
            </a:r>
            <a:r>
              <a:rPr lang="zh-CN" sz="11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｜</a:t>
            </a:r>
            <a:r>
              <a:rPr lang="en-US" sz="11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sz="11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一套模板</a:t>
            </a:r>
            <a:endParaRPr lang="zh-CN" sz="112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文本框 9" descr="{&quot;isTemplate&quot;:true,&quot;type&quot;:&quot;text&quot;}"/>
          <p:cNvSpPr txBox="1"/>
          <p:nvPr/>
        </p:nvSpPr>
        <p:spPr>
          <a:xfrm>
            <a:off x="2124075" y="1028700"/>
            <a:ext cx="9324975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E0F2FE"/>
                </a:solidFill>
                <a:latin typeface="微软雅黑" panose="020B0503020204020204" charset="-122"/>
                <a:ea typeface="微软雅黑" panose="020B0503020204020204" charset="-122"/>
              </a:rPr>
              <a:t>以青少年体质提升为目标的</a:t>
            </a:r>
            <a:r>
              <a:rPr lang="zh-CN" sz="1050" b="1">
                <a:solidFill>
                  <a:srgbClr val="E0F2FE"/>
                </a:solidFill>
                <a:latin typeface="微软雅黑" panose="020B0503020204020204" charset="-122"/>
                <a:ea typeface="微软雅黑" panose="020B0503020204020204" charset="-122"/>
              </a:rPr>
              <a:t>标准化服务模板</a:t>
            </a:r>
            <a:r>
              <a:rPr lang="zh-CN" sz="1050">
                <a:solidFill>
                  <a:srgbClr val="E0F2FE"/>
                </a:solidFill>
                <a:latin typeface="微软雅黑" panose="020B0503020204020204" charset="-122"/>
                <a:ea typeface="微软雅黑" panose="020B0503020204020204" charset="-122"/>
              </a:rPr>
              <a:t>：问卷调研</a:t>
            </a:r>
            <a:r>
              <a:rPr lang="en-US" sz="1050">
                <a:solidFill>
                  <a:srgbClr val="E0F2FE"/>
                </a:solidFill>
                <a:latin typeface="微软雅黑" panose="020B0503020204020204" charset="-122"/>
                <a:ea typeface="微软雅黑" panose="020B0503020204020204" charset="-122"/>
              </a:rPr>
              <a:t> → </a:t>
            </a:r>
            <a:r>
              <a:rPr lang="zh-CN" sz="1050">
                <a:solidFill>
                  <a:srgbClr val="E0F2FE"/>
                </a:solidFill>
                <a:latin typeface="微软雅黑" panose="020B0503020204020204" charset="-122"/>
                <a:ea typeface="微软雅黑" panose="020B0503020204020204" charset="-122"/>
              </a:rPr>
              <a:t>模块组合</a:t>
            </a:r>
            <a:r>
              <a:rPr lang="en-US" sz="1050">
                <a:solidFill>
                  <a:srgbClr val="E0F2FE"/>
                </a:solidFill>
                <a:latin typeface="微软雅黑" panose="020B0503020204020204" charset="-122"/>
                <a:ea typeface="微软雅黑" panose="020B0503020204020204" charset="-122"/>
              </a:rPr>
              <a:t> → </a:t>
            </a:r>
            <a:r>
              <a:rPr lang="zh-CN" sz="1050">
                <a:solidFill>
                  <a:srgbClr val="E0F2FE"/>
                </a:solidFill>
                <a:latin typeface="微软雅黑" panose="020B0503020204020204" charset="-122"/>
                <a:ea typeface="微软雅黑" panose="020B0503020204020204" charset="-122"/>
              </a:rPr>
              <a:t>现场实施</a:t>
            </a:r>
            <a:r>
              <a:rPr lang="en-US" sz="1050">
                <a:solidFill>
                  <a:srgbClr val="E0F2FE"/>
                </a:solidFill>
                <a:latin typeface="微软雅黑" panose="020B0503020204020204" charset="-122"/>
                <a:ea typeface="微软雅黑" panose="020B0503020204020204" charset="-122"/>
              </a:rPr>
              <a:t> → </a:t>
            </a:r>
            <a:r>
              <a:rPr lang="zh-CN" sz="1050">
                <a:solidFill>
                  <a:srgbClr val="E0F2FE"/>
                </a:solidFill>
                <a:latin typeface="微软雅黑" panose="020B0503020204020204" charset="-122"/>
                <a:ea typeface="微软雅黑" panose="020B0503020204020204" charset="-122"/>
              </a:rPr>
              <a:t>效果追踪，</a:t>
            </a:r>
            <a:r>
              <a:rPr lang="en-US" sz="1050">
                <a:solidFill>
                  <a:srgbClr val="E0F2FE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sz="1050">
                <a:solidFill>
                  <a:srgbClr val="E0F2FE"/>
                </a:solidFill>
                <a:latin typeface="微软雅黑" panose="020B0503020204020204" charset="-122"/>
                <a:ea typeface="微软雅黑" panose="020B0503020204020204" charset="-122"/>
              </a:rPr>
              <a:t>把零散的活动沉淀为可复制的完整流程，进入任何社区都无需从零开始。</a:t>
            </a:r>
            <a:endParaRPr lang="zh-CN" sz="1050">
              <a:solidFill>
                <a:srgbClr val="E0F2F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圆角矩形 10"/>
          <p:cNvSpPr/>
          <p:nvPr/>
        </p:nvSpPr>
        <p:spPr>
          <a:xfrm>
            <a:off x="533400" y="1495425"/>
            <a:ext cx="1038225" cy="209550"/>
          </a:xfrm>
          <a:prstGeom prst="roundRect">
            <a:avLst>
              <a:gd name="adj" fmla="val 18182"/>
            </a:avLst>
          </a:prstGeom>
          <a:solidFill>
            <a:srgbClr val="0284C7"/>
          </a:solidFill>
        </p:spPr>
        <p:txBody>
          <a:bodyPr/>
          <a:p/>
        </p:txBody>
      </p:sp>
      <p:sp>
        <p:nvSpPr>
          <p:cNvPr id="12" name="文本框 11" descr="{&quot;isTemplate&quot;:true,&quot;type&quot;:&quot;text&quot;}"/>
          <p:cNvSpPr txBox="1"/>
          <p:nvPr/>
        </p:nvSpPr>
        <p:spPr>
          <a:xfrm>
            <a:off x="628650" y="1524000"/>
            <a:ext cx="8477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02 </a:t>
            </a:r>
            <a:r>
              <a:rPr lang="zh-CN" sz="9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｜</a:t>
            </a:r>
            <a:r>
              <a:rPr lang="en-US" sz="9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sz="9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两个模块</a:t>
            </a:r>
            <a:endParaRPr lang="zh-CN" sz="97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 descr="{&quot;isTemplate&quot;:true,&quot;type&quot;:&quot;text&quot;}"/>
          <p:cNvSpPr txBox="1"/>
          <p:nvPr/>
        </p:nvSpPr>
        <p:spPr>
          <a:xfrm>
            <a:off x="1647825" y="1533525"/>
            <a:ext cx="194310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按社区条件自由组合，单上或叠加均可</a:t>
            </a:r>
            <a:endParaRPr lang="zh-CN" sz="90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圆角矩形 13"/>
          <p:cNvSpPr/>
          <p:nvPr/>
        </p:nvSpPr>
        <p:spPr>
          <a:xfrm>
            <a:off x="571500" y="1762125"/>
            <a:ext cx="5495925" cy="933450"/>
          </a:xfrm>
          <a:prstGeom prst="roundRect">
            <a:avLst>
              <a:gd name="adj" fmla="val 8163"/>
            </a:avLst>
          </a:prstGeom>
          <a:solidFill>
            <a:srgbClr val="FFFFFF"/>
          </a:solidFill>
        </p:spPr>
        <p:txBody>
          <a:bodyPr/>
          <a:p/>
        </p:txBody>
      </p:sp>
      <p:sp>
        <p:nvSpPr>
          <p:cNvPr id="15" name="任意多边形 14"/>
          <p:cNvSpPr/>
          <p:nvPr/>
        </p:nvSpPr>
        <p:spPr>
          <a:xfrm>
            <a:off x="571500" y="1762125"/>
            <a:ext cx="5495925" cy="933450"/>
          </a:xfrm>
          <a:custGeom>
            <a:avLst/>
            <a:gdLst/>
            <a:ahLst/>
            <a:cxnLst/>
            <a:pathLst>
              <a:path w="577" h="98">
                <a:moveTo>
                  <a:pt x="8" y="0"/>
                </a:moveTo>
                <a:cubicBezTo>
                  <a:pt x="6" y="0"/>
                  <a:pt x="4" y="2"/>
                  <a:pt x="4" y="4"/>
                </a:cubicBezTo>
                <a:lnTo>
                  <a:pt x="4" y="94"/>
                </a:lnTo>
                <a:cubicBezTo>
                  <a:pt x="4" y="96"/>
                  <a:pt x="5" y="98"/>
                  <a:pt x="7" y="98"/>
                </a:cubicBezTo>
                <a:cubicBezTo>
                  <a:pt x="3" y="98"/>
                  <a:pt x="0" y="94"/>
                  <a:pt x="0" y="90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0284C7"/>
          </a:solidFill>
        </p:spPr>
        <p:txBody>
          <a:bodyPr/>
          <a:p/>
        </p:txBody>
      </p:sp>
      <p:sp>
        <p:nvSpPr>
          <p:cNvPr id="16" name="圆角矩形 15"/>
          <p:cNvSpPr/>
          <p:nvPr/>
        </p:nvSpPr>
        <p:spPr>
          <a:xfrm>
            <a:off x="723900" y="1876425"/>
            <a:ext cx="247650" cy="247650"/>
          </a:xfrm>
          <a:prstGeom prst="roundRect">
            <a:avLst>
              <a:gd name="adj" fmla="val 23077"/>
            </a:avLst>
          </a:prstGeom>
          <a:solidFill>
            <a:srgbClr val="EFF6FF"/>
          </a:solidFill>
        </p:spPr>
        <p:txBody>
          <a:bodyPr/>
          <a:p/>
        </p:txBody>
      </p:sp>
      <p:sp>
        <p:nvSpPr>
          <p:cNvPr id="17" name="文本框 16" descr="{&quot;isTemplate&quot;:true,&quot;type&quot;:&quot;text&quot;}"/>
          <p:cNvSpPr txBox="1"/>
          <p:nvPr/>
        </p:nvSpPr>
        <p:spPr>
          <a:xfrm>
            <a:off x="762000" y="1924050"/>
            <a:ext cx="17145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975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🎤</a:t>
            </a:r>
            <a:endParaRPr sz="975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文本框 17" descr="{&quot;isTemplate&quot;:true,&quot;type&quot;:&quot;text&quot;}"/>
          <p:cNvSpPr txBox="1"/>
          <p:nvPr/>
        </p:nvSpPr>
        <p:spPr>
          <a:xfrm>
            <a:off x="1047750" y="1905000"/>
            <a:ext cx="60960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宣讲模块</a:t>
            </a:r>
            <a:endParaRPr lang="zh-CN" sz="120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文本框 18" descr="{&quot;isTemplate&quot;:true,&quot;type&quot;:&quot;text&quot;}"/>
          <p:cNvSpPr txBox="1"/>
          <p:nvPr/>
        </p:nvSpPr>
        <p:spPr>
          <a:xfrm>
            <a:off x="1733550" y="1933575"/>
            <a:ext cx="91440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0284C7"/>
                </a:solidFill>
                <a:latin typeface="微软雅黑" panose="020B0503020204020204" charset="-122"/>
                <a:ea typeface="微软雅黑" panose="020B0503020204020204" charset="-122"/>
              </a:rPr>
              <a:t>网络素养科普宣讲</a:t>
            </a:r>
            <a:endParaRPr lang="zh-CN" sz="900" b="1">
              <a:solidFill>
                <a:srgbClr val="0284C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文本框 19" descr="{&quot;isTemplate&quot;:true,&quot;type&quot;:&quot;text&quot;}"/>
          <p:cNvSpPr txBox="1"/>
          <p:nvPr/>
        </p:nvSpPr>
        <p:spPr>
          <a:xfrm>
            <a:off x="723900" y="2162175"/>
            <a:ext cx="5153025" cy="4191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沉迷危害情景警示</a:t>
            </a:r>
            <a:r>
              <a:rPr lang="en-US" sz="9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家庭用网微公约共签</a:t>
            </a:r>
            <a:r>
              <a:rPr lang="en-US" sz="9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护眼知识竞赛抢答</a:t>
            </a:r>
            <a:endParaRPr lang="zh-CN" sz="90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zh-CN" sz="900" b="1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解决</a:t>
            </a:r>
            <a:r>
              <a:rPr lang="en-US" sz="900" b="1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"</a:t>
            </a:r>
            <a:r>
              <a:rPr lang="zh-CN" sz="900" b="1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为什么沉迷</a:t>
            </a:r>
            <a:r>
              <a:rPr lang="en-US" sz="900" b="1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"——</a:t>
            </a:r>
            <a:r>
              <a:rPr lang="zh-CN" sz="900" b="1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从认知源头建立数字自律</a:t>
            </a:r>
            <a:endParaRPr lang="zh-CN" sz="900" b="1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圆角矩形 20"/>
          <p:cNvSpPr/>
          <p:nvPr/>
        </p:nvSpPr>
        <p:spPr>
          <a:xfrm>
            <a:off x="6200775" y="1762125"/>
            <a:ext cx="5495925" cy="933450"/>
          </a:xfrm>
          <a:prstGeom prst="roundRect">
            <a:avLst>
              <a:gd name="adj" fmla="val 8163"/>
            </a:avLst>
          </a:prstGeom>
          <a:solidFill>
            <a:srgbClr val="FFFFFF"/>
          </a:solidFill>
        </p:spPr>
        <p:txBody>
          <a:bodyPr/>
          <a:p/>
        </p:txBody>
      </p:sp>
      <p:sp>
        <p:nvSpPr>
          <p:cNvPr id="22" name="任意多边形 21"/>
          <p:cNvSpPr/>
          <p:nvPr/>
        </p:nvSpPr>
        <p:spPr>
          <a:xfrm>
            <a:off x="6200775" y="1762125"/>
            <a:ext cx="5495925" cy="933450"/>
          </a:xfrm>
          <a:custGeom>
            <a:avLst/>
            <a:gdLst/>
            <a:ahLst/>
            <a:cxnLst/>
            <a:pathLst>
              <a:path w="577" h="98">
                <a:moveTo>
                  <a:pt x="8" y="0"/>
                </a:moveTo>
                <a:cubicBezTo>
                  <a:pt x="6" y="0"/>
                  <a:pt x="4" y="2"/>
                  <a:pt x="4" y="4"/>
                </a:cubicBezTo>
                <a:lnTo>
                  <a:pt x="4" y="94"/>
                </a:lnTo>
                <a:cubicBezTo>
                  <a:pt x="4" y="96"/>
                  <a:pt x="5" y="98"/>
                  <a:pt x="7" y="98"/>
                </a:cubicBezTo>
                <a:cubicBezTo>
                  <a:pt x="3" y="98"/>
                  <a:pt x="0" y="94"/>
                  <a:pt x="0" y="90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F97316"/>
          </a:solidFill>
        </p:spPr>
        <p:txBody>
          <a:bodyPr/>
          <a:p/>
        </p:txBody>
      </p:sp>
      <p:sp>
        <p:nvSpPr>
          <p:cNvPr id="23" name="圆角矩形 22"/>
          <p:cNvSpPr/>
          <p:nvPr/>
        </p:nvSpPr>
        <p:spPr>
          <a:xfrm>
            <a:off x="6353175" y="1876425"/>
            <a:ext cx="247650" cy="247650"/>
          </a:xfrm>
          <a:prstGeom prst="roundRect">
            <a:avLst>
              <a:gd name="adj" fmla="val 23077"/>
            </a:avLst>
          </a:prstGeom>
          <a:solidFill>
            <a:srgbClr val="FFF7ED"/>
          </a:solidFill>
        </p:spPr>
        <p:txBody>
          <a:bodyPr/>
          <a:p/>
        </p:txBody>
      </p:sp>
      <p:sp>
        <p:nvSpPr>
          <p:cNvPr id="24" name="文本框 23" descr="{&quot;isTemplate&quot;:true,&quot;type&quot;:&quot;text&quot;}"/>
          <p:cNvSpPr txBox="1"/>
          <p:nvPr/>
        </p:nvSpPr>
        <p:spPr>
          <a:xfrm>
            <a:off x="6391275" y="1924050"/>
            <a:ext cx="17145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975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🏃</a:t>
            </a:r>
            <a:endParaRPr sz="975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文本框 24" descr="{&quot;isTemplate&quot;:true,&quot;type&quot;:&quot;text&quot;}"/>
          <p:cNvSpPr txBox="1"/>
          <p:nvPr/>
        </p:nvSpPr>
        <p:spPr>
          <a:xfrm>
            <a:off x="6677025" y="1905000"/>
            <a:ext cx="76200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运动会模块</a:t>
            </a:r>
            <a:endParaRPr lang="zh-CN" sz="120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文本框 25" descr="{&quot;isTemplate&quot;:true,&quot;type&quot;:&quot;text&quot;}"/>
          <p:cNvSpPr txBox="1"/>
          <p:nvPr/>
        </p:nvSpPr>
        <p:spPr>
          <a:xfrm>
            <a:off x="7515225" y="1933575"/>
            <a:ext cx="102870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C2410C"/>
                </a:solidFill>
                <a:latin typeface="微软雅黑" panose="020B0503020204020204" charset="-122"/>
                <a:ea typeface="微软雅黑" panose="020B0503020204020204" charset="-122"/>
              </a:rPr>
              <a:t>体质提升趣味运动会</a:t>
            </a:r>
            <a:endParaRPr lang="zh-CN" sz="900" b="1">
              <a:solidFill>
                <a:srgbClr val="C2410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文本框 26" descr="{&quot;isTemplate&quot;:true,&quot;type&quot;:&quot;text&quot;}"/>
          <p:cNvSpPr txBox="1"/>
          <p:nvPr/>
        </p:nvSpPr>
        <p:spPr>
          <a:xfrm>
            <a:off x="6353175" y="2162175"/>
            <a:ext cx="5153025" cy="4191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低门槛趣味项目</a:t>
            </a:r>
            <a:r>
              <a:rPr lang="en-US" sz="9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亲子协作积分接力</a:t>
            </a:r>
            <a:r>
              <a:rPr lang="en-US" sz="9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· 11 </a:t>
            </a:r>
            <a:r>
              <a:rPr lang="zh-CN" sz="9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天连续打卡激励</a:t>
            </a:r>
            <a:endParaRPr lang="zh-CN" sz="90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zh-CN" sz="900" b="1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解决</a:t>
            </a:r>
            <a:r>
              <a:rPr lang="en-US" sz="900" b="1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"</a:t>
            </a:r>
            <a:r>
              <a:rPr lang="zh-CN" sz="900" b="1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放下屏幕做什么</a:t>
            </a:r>
            <a:r>
              <a:rPr lang="en-US" sz="900" b="1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"——</a:t>
            </a:r>
            <a:r>
              <a:rPr lang="zh-CN" sz="900" b="1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以趣促动完成行为替代</a:t>
            </a:r>
            <a:endParaRPr lang="zh-CN" sz="900" b="1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圆角矩形 27"/>
          <p:cNvSpPr/>
          <p:nvPr/>
        </p:nvSpPr>
        <p:spPr>
          <a:xfrm>
            <a:off x="533400" y="2790825"/>
            <a:ext cx="1038225" cy="209550"/>
          </a:xfrm>
          <a:prstGeom prst="roundRect">
            <a:avLst>
              <a:gd name="adj" fmla="val 18182"/>
            </a:avLst>
          </a:prstGeom>
          <a:solidFill>
            <a:srgbClr val="059669"/>
          </a:solidFill>
        </p:spPr>
        <p:txBody>
          <a:bodyPr/>
          <a:p/>
        </p:txBody>
      </p:sp>
      <p:sp>
        <p:nvSpPr>
          <p:cNvPr id="29" name="文本框 28" descr="{&quot;isTemplate&quot;:true,&quot;type&quot;:&quot;text&quot;}"/>
          <p:cNvSpPr txBox="1"/>
          <p:nvPr/>
        </p:nvSpPr>
        <p:spPr>
          <a:xfrm>
            <a:off x="628650" y="2819400"/>
            <a:ext cx="8477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03 </a:t>
            </a:r>
            <a:r>
              <a:rPr lang="zh-CN" sz="9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｜</a:t>
            </a:r>
            <a:r>
              <a:rPr lang="en-US" sz="9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sz="9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三场落地</a:t>
            </a:r>
            <a:endParaRPr lang="zh-CN" sz="97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" name="文本框 29" descr="{&quot;isTemplate&quot;:true,&quot;type&quot;:&quot;text&quot;}"/>
          <p:cNvSpPr txBox="1"/>
          <p:nvPr/>
        </p:nvSpPr>
        <p:spPr>
          <a:xfrm>
            <a:off x="1647825" y="2828925"/>
            <a:ext cx="171450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同一套模板，因点施策，各展所长</a:t>
            </a:r>
            <a:endParaRPr lang="zh-CN" sz="90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圆角矩形 30"/>
          <p:cNvSpPr/>
          <p:nvPr/>
        </p:nvSpPr>
        <p:spPr>
          <a:xfrm>
            <a:off x="533400" y="3091180"/>
            <a:ext cx="3619500" cy="257810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grpSp>
        <p:nvGrpSpPr>
          <p:cNvPr id="64" name="组合 63"/>
          <p:cNvGrpSpPr/>
          <p:nvPr/>
        </p:nvGrpSpPr>
        <p:grpSpPr>
          <a:xfrm>
            <a:off x="628650" y="4686300"/>
            <a:ext cx="3429000" cy="736600"/>
            <a:chOff x="990" y="7013"/>
            <a:chExt cx="5400" cy="1160"/>
          </a:xfrm>
        </p:grpSpPr>
        <p:sp>
          <p:nvSpPr>
            <p:cNvPr id="33" name="圆角矩形 32"/>
            <p:cNvSpPr/>
            <p:nvPr/>
          </p:nvSpPr>
          <p:spPr>
            <a:xfrm>
              <a:off x="990" y="7013"/>
              <a:ext cx="705" cy="368"/>
            </a:xfrm>
            <a:prstGeom prst="roundRect">
              <a:avLst>
                <a:gd name="adj" fmla="val 18750"/>
              </a:avLst>
            </a:prstGeom>
            <a:solidFill>
              <a:srgbClr val="1E3A8A"/>
            </a:solidFill>
          </p:spPr>
          <p:txBody>
            <a:bodyPr/>
            <a:p/>
          </p:txBody>
        </p:sp>
        <p:sp>
          <p:nvSpPr>
            <p:cNvPr id="34" name="文本框 33" descr="{&quot;isTemplate&quot;:true,&quot;type&quot;:&quot;text&quot;}"/>
            <p:cNvSpPr txBox="1"/>
            <p:nvPr/>
          </p:nvSpPr>
          <p:spPr>
            <a:xfrm>
              <a:off x="1095" y="7105"/>
              <a:ext cx="495" cy="276"/>
            </a:xfrm>
            <a:prstGeom prst="rect">
              <a:avLst/>
            </a:prstGeom>
          </p:spPr>
          <p:txBody>
            <a:bodyPr wrap="none" lIns="0" tIns="0" rIns="0" bIns="0"/>
            <a:p>
              <a:pPr>
                <a:lnSpc>
                  <a:spcPct val="100000"/>
                </a:lnSpc>
              </a:pPr>
              <a:r>
                <a:rPr lang="zh-CN" sz="750" b="1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</a:rPr>
                <a:t>第</a:t>
              </a:r>
              <a:r>
                <a:rPr lang="en-US" sz="750" b="1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</a:rPr>
                <a:t> 1 </a:t>
              </a:r>
              <a:r>
                <a:rPr lang="zh-CN" sz="750" b="1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</a:rPr>
                <a:t>场</a:t>
              </a:r>
              <a:endParaRPr lang="zh-CN" sz="7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5" name="文本框 34" descr="{&quot;isTemplate&quot;:true,&quot;type&quot;:&quot;text&quot;}"/>
            <p:cNvSpPr txBox="1"/>
            <p:nvPr/>
          </p:nvSpPr>
          <p:spPr>
            <a:xfrm>
              <a:off x="1785" y="7039"/>
              <a:ext cx="1260" cy="391"/>
            </a:xfrm>
            <a:prstGeom prst="rect">
              <a:avLst/>
            </a:prstGeom>
          </p:spPr>
          <p:txBody>
            <a:bodyPr wrap="none" lIns="0" tIns="0" rIns="0" bIns="0"/>
            <a:p>
              <a:pPr>
                <a:lnSpc>
                  <a:spcPct val="100000"/>
                </a:lnSpc>
              </a:pPr>
              <a:r>
                <a:rPr lang="zh-CN" sz="1050" b="1">
                  <a:solidFill>
                    <a:srgbClr val="0F172A"/>
                  </a:solidFill>
                  <a:latin typeface="微软雅黑" panose="020B0503020204020204" charset="-122"/>
                  <a:ea typeface="微软雅黑" panose="020B0503020204020204" charset="-122"/>
                </a:rPr>
                <a:t>黄家皂幼儿园</a:t>
              </a:r>
              <a:endParaRPr lang="zh-CN" sz="105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6" name="圆角矩形 35"/>
            <p:cNvSpPr/>
            <p:nvPr/>
          </p:nvSpPr>
          <p:spPr>
            <a:xfrm>
              <a:off x="990" y="7380"/>
              <a:ext cx="5400" cy="414"/>
            </a:xfrm>
            <a:prstGeom prst="roundRect">
              <a:avLst>
                <a:gd name="adj" fmla="val 16667"/>
              </a:avLst>
            </a:prstGeom>
            <a:solidFill>
              <a:srgbClr val="EFF6FF"/>
            </a:solidFill>
          </p:spPr>
          <p:txBody>
            <a:bodyPr/>
            <a:p/>
          </p:txBody>
        </p:sp>
        <p:sp>
          <p:nvSpPr>
            <p:cNvPr id="37" name="文本框 36" descr="{&quot;isTemplate&quot;:true,&quot;type&quot;:&quot;text&quot;}"/>
            <p:cNvSpPr txBox="1"/>
            <p:nvPr/>
          </p:nvSpPr>
          <p:spPr>
            <a:xfrm>
              <a:off x="1095" y="7450"/>
              <a:ext cx="5190" cy="276"/>
            </a:xfrm>
            <a:prstGeom prst="rect">
              <a:avLst/>
            </a:prstGeom>
          </p:spPr>
          <p:txBody>
            <a:bodyPr wrap="none" lIns="0" tIns="0" rIns="0" bIns="0"/>
            <a:p>
              <a:pPr>
                <a:lnSpc>
                  <a:spcPct val="100000"/>
                </a:lnSpc>
              </a:pPr>
              <a:r>
                <a:rPr lang="zh-CN" sz="750" b="1">
                  <a:solidFill>
                    <a:srgbClr val="0369A1"/>
                  </a:solidFill>
                  <a:latin typeface="微软雅黑" panose="020B0503020204020204" charset="-122"/>
                  <a:ea typeface="微软雅黑" panose="020B0503020204020204" charset="-122"/>
                </a:rPr>
                <a:t>宣讲模块（单模块）</a:t>
              </a:r>
              <a:endParaRPr lang="zh-CN" sz="750" b="1">
                <a:solidFill>
                  <a:srgbClr val="0369A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8" name="文本框 37" descr="{&quot;isTemplate&quot;:true,&quot;type&quot;:&quot;text&quot;}"/>
            <p:cNvSpPr txBox="1"/>
            <p:nvPr/>
          </p:nvSpPr>
          <p:spPr>
            <a:xfrm>
              <a:off x="990" y="7735"/>
              <a:ext cx="5400" cy="438"/>
            </a:xfrm>
            <a:prstGeom prst="rect">
              <a:avLst/>
            </a:prstGeom>
          </p:spPr>
          <p:txBody>
            <a:bodyPr wrap="none" lIns="0" tIns="0" rIns="0" bIns="0"/>
            <a:p>
              <a:pPr>
                <a:lnSpc>
                  <a:spcPct val="140000"/>
                </a:lnSpc>
              </a:pPr>
              <a:r>
                <a:rPr lang="zh-CN" sz="825">
                  <a:solidFill>
                    <a:srgbClr val="64748B"/>
                  </a:solidFill>
                  <a:latin typeface="微软雅黑" panose="020B0503020204020204" charset="-122"/>
                  <a:ea typeface="微软雅黑" panose="020B0503020204020204" charset="-122"/>
                </a:rPr>
                <a:t>室内场地、幼儿年龄，采用</a:t>
              </a:r>
              <a:r>
                <a:rPr lang="en-US" sz="825">
                  <a:solidFill>
                    <a:srgbClr val="64748B"/>
                  </a:solidFill>
                  <a:latin typeface="微软雅黑" panose="020B0503020204020204" charset="-122"/>
                  <a:ea typeface="微软雅黑" panose="020B0503020204020204" charset="-122"/>
                </a:rPr>
                <a:t> 40 </a:t>
              </a:r>
              <a:r>
                <a:rPr lang="zh-CN" sz="825">
                  <a:solidFill>
                    <a:srgbClr val="64748B"/>
                  </a:solidFill>
                  <a:latin typeface="微软雅黑" panose="020B0503020204020204" charset="-122"/>
                  <a:ea typeface="微软雅黑" panose="020B0503020204020204" charset="-122"/>
                </a:rPr>
                <a:t>分钟短课时精准适配。</a:t>
              </a:r>
              <a:endParaRPr lang="zh-CN" sz="82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39" name="圆角矩形 38"/>
          <p:cNvSpPr/>
          <p:nvPr/>
        </p:nvSpPr>
        <p:spPr>
          <a:xfrm>
            <a:off x="4286250" y="3057525"/>
            <a:ext cx="3619500" cy="263144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grpSp>
        <p:nvGrpSpPr>
          <p:cNvPr id="62" name="组合 61"/>
          <p:cNvGrpSpPr/>
          <p:nvPr/>
        </p:nvGrpSpPr>
        <p:grpSpPr>
          <a:xfrm>
            <a:off x="4381500" y="4669155"/>
            <a:ext cx="3429000" cy="753745"/>
            <a:chOff x="6900" y="6315"/>
            <a:chExt cx="5400" cy="989"/>
          </a:xfrm>
        </p:grpSpPr>
        <p:sp>
          <p:nvSpPr>
            <p:cNvPr id="41" name="圆角矩形 40"/>
            <p:cNvSpPr/>
            <p:nvPr/>
          </p:nvSpPr>
          <p:spPr>
            <a:xfrm>
              <a:off x="6900" y="6330"/>
              <a:ext cx="705" cy="240"/>
            </a:xfrm>
            <a:prstGeom prst="roundRect">
              <a:avLst>
                <a:gd name="adj" fmla="val 18750"/>
              </a:avLst>
            </a:prstGeom>
            <a:solidFill>
              <a:srgbClr val="0284C7"/>
            </a:solidFill>
          </p:spPr>
          <p:txBody>
            <a:bodyPr/>
            <a:p/>
          </p:txBody>
        </p:sp>
        <p:sp>
          <p:nvSpPr>
            <p:cNvPr id="42" name="文本框 41" descr="{&quot;isTemplate&quot;:true,&quot;type&quot;:&quot;text&quot;}"/>
            <p:cNvSpPr txBox="1"/>
            <p:nvPr/>
          </p:nvSpPr>
          <p:spPr>
            <a:xfrm>
              <a:off x="7005" y="6360"/>
              <a:ext cx="495" cy="180"/>
            </a:xfrm>
            <a:prstGeom prst="rect">
              <a:avLst/>
            </a:prstGeom>
          </p:spPr>
          <p:txBody>
            <a:bodyPr wrap="none" lIns="0" tIns="0" rIns="0" bIns="0"/>
            <a:p>
              <a:pPr>
                <a:lnSpc>
                  <a:spcPct val="100000"/>
                </a:lnSpc>
              </a:pPr>
              <a:r>
                <a:rPr lang="zh-CN" sz="750" b="1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</a:rPr>
                <a:t>第</a:t>
              </a:r>
              <a:r>
                <a:rPr lang="en-US" sz="750" b="1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</a:rPr>
                <a:t> 2 </a:t>
              </a:r>
              <a:r>
                <a:rPr lang="zh-CN" sz="750" b="1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</a:rPr>
                <a:t>场</a:t>
              </a:r>
              <a:endParaRPr lang="zh-CN" sz="7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43" name="文本框 42" descr="{&quot;isTemplate&quot;:true,&quot;type&quot;:&quot;text&quot;}"/>
            <p:cNvSpPr txBox="1"/>
            <p:nvPr/>
          </p:nvSpPr>
          <p:spPr>
            <a:xfrm>
              <a:off x="7695" y="6315"/>
              <a:ext cx="840" cy="255"/>
            </a:xfrm>
            <a:prstGeom prst="rect">
              <a:avLst/>
            </a:prstGeom>
          </p:spPr>
          <p:txBody>
            <a:bodyPr wrap="none" lIns="0" tIns="0" rIns="0" bIns="0"/>
            <a:p>
              <a:pPr>
                <a:lnSpc>
                  <a:spcPct val="100000"/>
                </a:lnSpc>
              </a:pPr>
              <a:r>
                <a:rPr lang="zh-CN" sz="1050" b="1">
                  <a:solidFill>
                    <a:srgbClr val="0F172A"/>
                  </a:solidFill>
                  <a:latin typeface="微软雅黑" panose="020B0503020204020204" charset="-122"/>
                  <a:ea typeface="微软雅黑" panose="020B0503020204020204" charset="-122"/>
                </a:rPr>
                <a:t>蓝海社区</a:t>
              </a:r>
              <a:endParaRPr lang="zh-CN" sz="105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44" name="圆角矩形 43"/>
            <p:cNvSpPr/>
            <p:nvPr/>
          </p:nvSpPr>
          <p:spPr>
            <a:xfrm>
              <a:off x="6900" y="6660"/>
              <a:ext cx="5400" cy="270"/>
            </a:xfrm>
            <a:prstGeom prst="roundRect">
              <a:avLst>
                <a:gd name="adj" fmla="val 16667"/>
              </a:avLst>
            </a:prstGeom>
            <a:solidFill>
              <a:srgbClr val="FFF7ED"/>
            </a:solidFill>
          </p:spPr>
          <p:txBody>
            <a:bodyPr/>
            <a:p/>
          </p:txBody>
        </p:sp>
        <p:sp>
          <p:nvSpPr>
            <p:cNvPr id="45" name="文本框 44" descr="{&quot;isTemplate&quot;:true,&quot;type&quot;:&quot;text&quot;}"/>
            <p:cNvSpPr txBox="1"/>
            <p:nvPr/>
          </p:nvSpPr>
          <p:spPr>
            <a:xfrm>
              <a:off x="7005" y="6705"/>
              <a:ext cx="5190" cy="180"/>
            </a:xfrm>
            <a:prstGeom prst="rect">
              <a:avLst/>
            </a:prstGeom>
          </p:spPr>
          <p:txBody>
            <a:bodyPr wrap="none" lIns="0" tIns="0" rIns="0" bIns="0"/>
            <a:p>
              <a:pPr>
                <a:lnSpc>
                  <a:spcPct val="100000"/>
                </a:lnSpc>
              </a:pPr>
              <a:r>
                <a:rPr lang="zh-CN" sz="750" b="1">
                  <a:solidFill>
                    <a:srgbClr val="C2410C"/>
                  </a:solidFill>
                  <a:latin typeface="微软雅黑" panose="020B0503020204020204" charset="-122"/>
                  <a:ea typeface="微软雅黑" panose="020B0503020204020204" charset="-122"/>
                </a:rPr>
                <a:t>运动会模块（单模块）</a:t>
              </a:r>
              <a:endParaRPr lang="zh-CN" sz="750" b="1">
                <a:solidFill>
                  <a:srgbClr val="C2410C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46" name="文本框 45" descr="{&quot;isTemplate&quot;:true,&quot;type&quot;:&quot;text&quot;}"/>
            <p:cNvSpPr txBox="1"/>
            <p:nvPr/>
          </p:nvSpPr>
          <p:spPr>
            <a:xfrm>
              <a:off x="6900" y="7020"/>
              <a:ext cx="5400" cy="285"/>
            </a:xfrm>
            <a:prstGeom prst="rect">
              <a:avLst/>
            </a:prstGeom>
          </p:spPr>
          <p:txBody>
            <a:bodyPr wrap="none" lIns="0" tIns="0" rIns="0" bIns="0"/>
            <a:p>
              <a:pPr>
                <a:lnSpc>
                  <a:spcPct val="140000"/>
                </a:lnSpc>
              </a:pPr>
              <a:r>
                <a:rPr lang="zh-CN" sz="825">
                  <a:solidFill>
                    <a:srgbClr val="64748B"/>
                  </a:solidFill>
                  <a:latin typeface="微软雅黑" panose="020B0503020204020204" charset="-122"/>
                  <a:ea typeface="微软雅黑" panose="020B0503020204020204" charset="-122"/>
                </a:rPr>
                <a:t>户外开阔场地，完整开展趣味运动会与亲子接力。</a:t>
              </a:r>
              <a:endParaRPr lang="zh-CN" sz="82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47" name="圆角矩形 46"/>
          <p:cNvSpPr/>
          <p:nvPr/>
        </p:nvSpPr>
        <p:spPr>
          <a:xfrm>
            <a:off x="8039100" y="3057525"/>
            <a:ext cx="3619500" cy="2619375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grpSp>
        <p:nvGrpSpPr>
          <p:cNvPr id="63" name="组合 62"/>
          <p:cNvGrpSpPr/>
          <p:nvPr/>
        </p:nvGrpSpPr>
        <p:grpSpPr>
          <a:xfrm>
            <a:off x="8134350" y="4680585"/>
            <a:ext cx="3429000" cy="753745"/>
            <a:chOff x="12810" y="6315"/>
            <a:chExt cx="5400" cy="989"/>
          </a:xfrm>
        </p:grpSpPr>
        <p:sp>
          <p:nvSpPr>
            <p:cNvPr id="49" name="圆角矩形 48"/>
            <p:cNvSpPr/>
            <p:nvPr/>
          </p:nvSpPr>
          <p:spPr>
            <a:xfrm>
              <a:off x="12810" y="6330"/>
              <a:ext cx="705" cy="240"/>
            </a:xfrm>
            <a:prstGeom prst="roundRect">
              <a:avLst>
                <a:gd name="adj" fmla="val 18750"/>
              </a:avLst>
            </a:prstGeom>
            <a:solidFill>
              <a:srgbClr val="059669"/>
            </a:solidFill>
          </p:spPr>
          <p:txBody>
            <a:bodyPr/>
            <a:p/>
          </p:txBody>
        </p:sp>
        <p:sp>
          <p:nvSpPr>
            <p:cNvPr id="50" name="文本框 49" descr="{&quot;isTemplate&quot;:true,&quot;type&quot;:&quot;text&quot;}"/>
            <p:cNvSpPr txBox="1"/>
            <p:nvPr/>
          </p:nvSpPr>
          <p:spPr>
            <a:xfrm>
              <a:off x="12915" y="6360"/>
              <a:ext cx="495" cy="180"/>
            </a:xfrm>
            <a:prstGeom prst="rect">
              <a:avLst/>
            </a:prstGeom>
          </p:spPr>
          <p:txBody>
            <a:bodyPr wrap="none" lIns="0" tIns="0" rIns="0" bIns="0"/>
            <a:p>
              <a:pPr>
                <a:lnSpc>
                  <a:spcPct val="100000"/>
                </a:lnSpc>
              </a:pPr>
              <a:r>
                <a:rPr lang="zh-CN" sz="750" b="1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</a:rPr>
                <a:t>第</a:t>
              </a:r>
              <a:r>
                <a:rPr lang="en-US" sz="750" b="1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</a:rPr>
                <a:t> 3 </a:t>
              </a:r>
              <a:r>
                <a:rPr lang="zh-CN" sz="750" b="1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</a:rPr>
                <a:t>场</a:t>
              </a:r>
              <a:endParaRPr lang="zh-CN" sz="7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51" name="文本框 50" descr="{&quot;isTemplate&quot;:true,&quot;type&quot;:&quot;text&quot;}"/>
            <p:cNvSpPr txBox="1"/>
            <p:nvPr/>
          </p:nvSpPr>
          <p:spPr>
            <a:xfrm>
              <a:off x="13605" y="6315"/>
              <a:ext cx="840" cy="255"/>
            </a:xfrm>
            <a:prstGeom prst="rect">
              <a:avLst/>
            </a:prstGeom>
          </p:spPr>
          <p:txBody>
            <a:bodyPr wrap="none" lIns="0" tIns="0" rIns="0" bIns="0"/>
            <a:p>
              <a:pPr>
                <a:lnSpc>
                  <a:spcPct val="100000"/>
                </a:lnSpc>
              </a:pPr>
              <a:r>
                <a:rPr lang="zh-CN" sz="1050" b="1">
                  <a:solidFill>
                    <a:srgbClr val="0F172A"/>
                  </a:solidFill>
                  <a:latin typeface="微软雅黑" panose="020B0503020204020204" charset="-122"/>
                  <a:ea typeface="微软雅黑" panose="020B0503020204020204" charset="-122"/>
                </a:rPr>
                <a:t>西海社区</a:t>
              </a:r>
              <a:endParaRPr lang="zh-CN" sz="105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52" name="圆角矩形 51"/>
            <p:cNvSpPr/>
            <p:nvPr/>
          </p:nvSpPr>
          <p:spPr>
            <a:xfrm>
              <a:off x="12810" y="6660"/>
              <a:ext cx="5400" cy="270"/>
            </a:xfrm>
            <a:prstGeom prst="roundRect">
              <a:avLst>
                <a:gd name="adj" fmla="val 16667"/>
              </a:avLst>
            </a:prstGeom>
            <a:solidFill>
              <a:srgbClr val="ECFDF5"/>
            </a:solidFill>
          </p:spPr>
          <p:txBody>
            <a:bodyPr/>
            <a:p/>
          </p:txBody>
        </p:sp>
        <p:sp>
          <p:nvSpPr>
            <p:cNvPr id="53" name="文本框 52" descr="{&quot;isTemplate&quot;:true,&quot;type&quot;:&quot;text&quot;}"/>
            <p:cNvSpPr txBox="1"/>
            <p:nvPr/>
          </p:nvSpPr>
          <p:spPr>
            <a:xfrm>
              <a:off x="12915" y="6705"/>
              <a:ext cx="5190" cy="180"/>
            </a:xfrm>
            <a:prstGeom prst="rect">
              <a:avLst/>
            </a:prstGeom>
          </p:spPr>
          <p:txBody>
            <a:bodyPr wrap="none" lIns="0" tIns="0" rIns="0" bIns="0"/>
            <a:p>
              <a:pPr>
                <a:lnSpc>
                  <a:spcPct val="100000"/>
                </a:lnSpc>
              </a:pPr>
              <a:r>
                <a:rPr lang="zh-CN" sz="750" b="1">
                  <a:solidFill>
                    <a:srgbClr val="15803D"/>
                  </a:solidFill>
                  <a:latin typeface="微软雅黑" panose="020B0503020204020204" charset="-122"/>
                  <a:ea typeface="微软雅黑" panose="020B0503020204020204" charset="-122"/>
                </a:rPr>
                <a:t>双模块叠加</a:t>
              </a:r>
              <a:r>
                <a:rPr lang="en-US" sz="750" b="1">
                  <a:solidFill>
                    <a:srgbClr val="15803D"/>
                  </a:solidFill>
                  <a:latin typeface="微软雅黑" panose="020B0503020204020204" charset="-122"/>
                  <a:ea typeface="微软雅黑" panose="020B0503020204020204" charset="-122"/>
                </a:rPr>
                <a:t> + </a:t>
              </a:r>
              <a:r>
                <a:rPr lang="zh-CN" sz="750" b="1">
                  <a:solidFill>
                    <a:srgbClr val="15803D"/>
                  </a:solidFill>
                  <a:latin typeface="微软雅黑" panose="020B0503020204020204" charset="-122"/>
                  <a:ea typeface="微软雅黑" panose="020B0503020204020204" charset="-122"/>
                </a:rPr>
                <a:t>反诈宣讲</a:t>
              </a:r>
              <a:endParaRPr lang="zh-CN" sz="750" b="1">
                <a:solidFill>
                  <a:srgbClr val="15803D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54" name="文本框 53" descr="{&quot;isTemplate&quot;:true,&quot;type&quot;:&quot;text&quot;}"/>
            <p:cNvSpPr txBox="1"/>
            <p:nvPr/>
          </p:nvSpPr>
          <p:spPr>
            <a:xfrm>
              <a:off x="12810" y="7020"/>
              <a:ext cx="5400" cy="285"/>
            </a:xfrm>
            <a:prstGeom prst="rect">
              <a:avLst/>
            </a:prstGeom>
          </p:spPr>
          <p:txBody>
            <a:bodyPr wrap="none" lIns="0" tIns="0" rIns="0" bIns="0"/>
            <a:p>
              <a:pPr>
                <a:lnSpc>
                  <a:spcPct val="140000"/>
                </a:lnSpc>
              </a:pPr>
              <a:r>
                <a:rPr lang="zh-CN" sz="825">
                  <a:solidFill>
                    <a:srgbClr val="64748B"/>
                  </a:solidFill>
                  <a:latin typeface="微软雅黑" panose="020B0503020204020204" charset="-122"/>
                  <a:ea typeface="微软雅黑" panose="020B0503020204020204" charset="-122"/>
                </a:rPr>
                <a:t>室内外分时段切换，多部门协同，一次进场多重成效。</a:t>
              </a:r>
              <a:endParaRPr lang="zh-CN" sz="82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56" name="任意多边形 55"/>
          <p:cNvSpPr/>
          <p:nvPr/>
        </p:nvSpPr>
        <p:spPr>
          <a:xfrm>
            <a:off x="509270" y="6129020"/>
            <a:ext cx="11125200" cy="457200"/>
          </a:xfrm>
          <a:custGeom>
            <a:avLst/>
            <a:gdLst/>
            <a:ahLst/>
            <a:cxnLst/>
            <a:pathLst>
              <a:path w="1168" h="48">
                <a:moveTo>
                  <a:pt x="8" y="0"/>
                </a:moveTo>
                <a:cubicBezTo>
                  <a:pt x="6" y="0"/>
                  <a:pt x="5" y="1"/>
                  <a:pt x="5" y="3"/>
                </a:cubicBezTo>
                <a:lnTo>
                  <a:pt x="5" y="45"/>
                </a:lnTo>
                <a:cubicBezTo>
                  <a:pt x="5" y="47"/>
                  <a:pt x="6" y="48"/>
                  <a:pt x="8" y="48"/>
                </a:cubicBezTo>
                <a:cubicBezTo>
                  <a:pt x="3" y="48"/>
                  <a:pt x="0" y="44"/>
                  <a:pt x="0" y="40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1E3A8A"/>
          </a:solidFill>
        </p:spPr>
        <p:txBody>
          <a:bodyPr/>
          <a:p/>
        </p:txBody>
      </p:sp>
      <p:grpSp>
        <p:nvGrpSpPr>
          <p:cNvPr id="58" name="组合 57"/>
          <p:cNvGrpSpPr/>
          <p:nvPr/>
        </p:nvGrpSpPr>
        <p:grpSpPr>
          <a:xfrm>
            <a:off x="533400" y="6129020"/>
            <a:ext cx="11125200" cy="457200"/>
            <a:chOff x="915" y="7605"/>
            <a:chExt cx="17520" cy="720"/>
          </a:xfrm>
        </p:grpSpPr>
        <p:sp>
          <p:nvSpPr>
            <p:cNvPr id="55" name="圆角矩形 54"/>
            <p:cNvSpPr/>
            <p:nvPr/>
          </p:nvSpPr>
          <p:spPr>
            <a:xfrm>
              <a:off x="915" y="7605"/>
              <a:ext cx="17520" cy="720"/>
            </a:xfrm>
            <a:prstGeom prst="roundRect">
              <a:avLst>
                <a:gd name="adj" fmla="val 16667"/>
              </a:avLst>
            </a:prstGeom>
            <a:gradFill>
              <a:gsLst>
                <a:gs pos="0">
                  <a:srgbClr val="EFF6FF"/>
                </a:gs>
                <a:gs pos="100000">
                  <a:srgbClr val="DBEAFE"/>
                </a:gs>
              </a:gsLst>
              <a:lin ang="2700000" scaled="1"/>
            </a:gradFill>
          </p:spPr>
          <p:txBody>
            <a:bodyPr/>
            <a:p/>
          </p:txBody>
        </p:sp>
        <p:sp>
          <p:nvSpPr>
            <p:cNvPr id="57" name="文本框 56" descr="{&quot;isTemplate&quot;:true,&quot;type&quot;:&quot;text&quot;}"/>
            <p:cNvSpPr txBox="1"/>
            <p:nvPr/>
          </p:nvSpPr>
          <p:spPr>
            <a:xfrm>
              <a:off x="1245" y="7770"/>
              <a:ext cx="16785" cy="390"/>
            </a:xfrm>
            <a:prstGeom prst="rect">
              <a:avLst/>
            </a:prstGeom>
          </p:spPr>
          <p:txBody>
            <a:bodyPr wrap="none" lIns="0" tIns="0" rIns="0" bIns="0"/>
            <a:p>
              <a:pPr>
                <a:lnSpc>
                  <a:spcPct val="150000"/>
                </a:lnSpc>
              </a:pPr>
              <a:r>
                <a:rPr lang="zh-CN" sz="1050">
                  <a:solidFill>
                    <a:srgbClr val="1E3A8A"/>
                  </a:solidFill>
                  <a:latin typeface="微软雅黑" panose="020B0503020204020204" charset="-122"/>
                  <a:ea typeface="微软雅黑" panose="020B0503020204020204" charset="-122"/>
                </a:rPr>
                <a:t>一套模板、两个模块、三场落地——</a:t>
              </a:r>
              <a:r>
                <a:rPr lang="zh-CN" sz="1050" b="1">
                  <a:solidFill>
                    <a:srgbClr val="1E3A8A"/>
                  </a:solidFill>
                  <a:latin typeface="微软雅黑" panose="020B0503020204020204" charset="-122"/>
                  <a:ea typeface="微软雅黑" panose="020B0503020204020204" charset="-122"/>
                </a:rPr>
                <a:t>同一支队伍，因点施策、各展所长</a:t>
              </a:r>
              <a:r>
                <a:rPr lang="zh-CN" sz="1050">
                  <a:solidFill>
                    <a:srgbClr val="1E3A8A"/>
                  </a:solidFill>
                  <a:latin typeface="微软雅黑" panose="020B0503020204020204" charset="-122"/>
                  <a:ea typeface="微软雅黑" panose="020B0503020204020204" charset="-122"/>
                </a:rPr>
                <a:t>；</a:t>
              </a:r>
              <a:r>
                <a:rPr lang="en-US" sz="1050">
                  <a:solidFill>
                    <a:srgbClr val="1E3A8A"/>
                  </a:solidFill>
                  <a:latin typeface="微软雅黑" panose="020B0503020204020204" charset="-122"/>
                  <a:ea typeface="微软雅黑" panose="020B0503020204020204" charset="-122"/>
                </a:rPr>
                <a:t> </a:t>
              </a:r>
              <a:r>
                <a:rPr lang="zh-CN" sz="1050">
                  <a:solidFill>
                    <a:srgbClr val="1E3A8A"/>
                  </a:solidFill>
                  <a:latin typeface="微软雅黑" panose="020B0503020204020204" charset="-122"/>
                  <a:ea typeface="微软雅黑" panose="020B0503020204020204" charset="-122"/>
                </a:rPr>
                <a:t>用宣讲点亮认知，用运动强健体魄，这便是我们守护青少年健康成长的方式。</a:t>
              </a:r>
              <a:endParaRPr lang="zh-CN" sz="1050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</p:spTree>
  </p:cSld>
  <p:clrMapOvr>
    <a:masterClrMapping/>
  </p:clrMapOvr>
</p:sld>
</file>

<file path=ppt/tags/tag1.xml><?xml version="1.0" encoding="utf-8"?>
<p:tagLst xmlns:p="http://schemas.openxmlformats.org/presentationml/2006/main">
  <p:tag name="commondata" val="eyJoZGlkIjoiOGE3MWU0MWIwZjhlYjQxYjdlZmFmZjQwYTE1MjgzNDAifQ==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553</Words>
  <Application>WPS 演示</Application>
  <PresentationFormat/>
  <Paragraphs>62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Arial</vt:lpstr>
      <vt:lpstr>宋体</vt:lpstr>
      <vt:lpstr>Wingdings</vt:lpstr>
      <vt:lpstr>微软雅黑</vt:lpstr>
      <vt:lpstr>Calibri</vt:lpstr>
      <vt:lpstr>Arial Unicode MS</vt:lpstr>
      <vt:lpstr>等线</vt:lpstr>
      <vt:lpstr>Office Theme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这也是阎总</cp:lastModifiedBy>
  <cp:revision>1</cp:revision>
  <dcterms:created xsi:type="dcterms:W3CDTF">2026-09-01T15:40:23Z</dcterms:created>
  <dcterms:modified xsi:type="dcterms:W3CDTF">2026-09-01T15:40:23Z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15F8F81C22584073A878EB9DCA7BA819_12</vt:lpwstr>
  </property>
  <property fmtid="{D5CDD505-2E9C-101B-9397-08002B2CF9AE}" pid="3" name="KSOProductBuildVer">
    <vt:lpwstr>2052-12.1.0.16250</vt:lpwstr>
  </property>
</Properties>
</file>